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1"/>
  </p:notesMasterIdLst>
  <p:sldIdLst>
    <p:sldId id="256" r:id="rId2"/>
    <p:sldId id="258" r:id="rId3"/>
    <p:sldId id="259" r:id="rId4"/>
    <p:sldId id="260" r:id="rId5"/>
    <p:sldId id="261" r:id="rId6"/>
    <p:sldId id="262" r:id="rId7"/>
    <p:sldId id="275" r:id="rId8"/>
    <p:sldId id="263" r:id="rId9"/>
    <p:sldId id="271" r:id="rId10"/>
    <p:sldId id="264" r:id="rId11"/>
    <p:sldId id="272" r:id="rId12"/>
    <p:sldId id="265" r:id="rId13"/>
    <p:sldId id="273" r:id="rId14"/>
    <p:sldId id="266" r:id="rId15"/>
    <p:sldId id="276" r:id="rId16"/>
    <p:sldId id="267" r:id="rId17"/>
    <p:sldId id="269" r:id="rId18"/>
    <p:sldId id="270" r:id="rId19"/>
    <p:sldId id="274" r:id="rId20"/>
  </p:sldIdLst>
  <p:sldSz cx="12192000" cy="6858000"/>
  <p:notesSz cx="6858000" cy="9144000"/>
  <p:custShowLst>
    <p:custShow name="Custom Show 1" id="0">
      <p:sldLst>
        <p:sld r:id="rId2"/>
        <p:sld r:id="rId3"/>
        <p:sld r:id="rId4"/>
        <p:sld r:id="rId5"/>
        <p:sld r:id="rId6"/>
        <p:sld r:id="rId7"/>
        <p:sld r:id="rId8"/>
        <p:sld r:id="rId9"/>
        <p:sld r:id="rId10"/>
        <p:sld r:id="rId11"/>
        <p:sld r:id="rId12"/>
        <p:sld r:id="rId13"/>
        <p:sld r:id="rId14"/>
        <p:sld r:id="rId15"/>
        <p:sld r:id="rId16"/>
        <p:sld r:id="rId17"/>
        <p:sld r:id="rId18"/>
        <p:sld r:id="rId19"/>
        <p:sld r:id="rId20"/>
      </p:sldLst>
    </p:custShow>
  </p:custShow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0066"/>
    <a:srgbClr val="3366FF"/>
    <a:srgbClr val="06090E"/>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E3E5ACE-0FB7-446A-9ADA-3F7BF7E2B9BE}" v="4" dt="2025-09-28T13:20:33.331"/>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5" autoAdjust="0"/>
    <p:restoredTop sz="94660"/>
  </p:normalViewPr>
  <p:slideViewPr>
    <p:cSldViewPr snapToGrid="0">
      <p:cViewPr>
        <p:scale>
          <a:sx n="75" d="100"/>
          <a:sy n="75" d="100"/>
        </p:scale>
        <p:origin x="324" y="35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notesMaster" Target="notesMasters/notesMaster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racheta Ganguly" userId="4217edf7c6c44b05" providerId="LiveId" clId="{EB44F2AA-CBD7-494D-9883-37AC84F5CA9A}"/>
    <pc:docChg chg="modSld">
      <pc:chgData name="Pracheta Ganguly" userId="4217edf7c6c44b05" providerId="LiveId" clId="{EB44F2AA-CBD7-494D-9883-37AC84F5CA9A}" dt="2025-09-28T13:22:18.808" v="65" actId="1076"/>
      <pc:docMkLst>
        <pc:docMk/>
      </pc:docMkLst>
      <pc:sldChg chg="modSp mod">
        <pc:chgData name="Pracheta Ganguly" userId="4217edf7c6c44b05" providerId="LiveId" clId="{EB44F2AA-CBD7-494D-9883-37AC84F5CA9A}" dt="2025-09-28T12:54:31.819" v="0" actId="20577"/>
        <pc:sldMkLst>
          <pc:docMk/>
          <pc:sldMk cId="2651325391" sldId="263"/>
        </pc:sldMkLst>
        <pc:spChg chg="mod">
          <ac:chgData name="Pracheta Ganguly" userId="4217edf7c6c44b05" providerId="LiveId" clId="{EB44F2AA-CBD7-494D-9883-37AC84F5CA9A}" dt="2025-09-28T12:54:31.819" v="0" actId="20577"/>
          <ac:spMkLst>
            <pc:docMk/>
            <pc:sldMk cId="2651325391" sldId="263"/>
            <ac:spMk id="4" creationId="{0E16A51F-7DCD-A49B-6DE2-1A0E8ABFC7EC}"/>
          </ac:spMkLst>
        </pc:spChg>
      </pc:sldChg>
      <pc:sldChg chg="addSp modSp mod">
        <pc:chgData name="Pracheta Ganguly" userId="4217edf7c6c44b05" providerId="LiveId" clId="{EB44F2AA-CBD7-494D-9883-37AC84F5CA9A}" dt="2025-09-28T13:22:18.808" v="65" actId="1076"/>
        <pc:sldMkLst>
          <pc:docMk/>
          <pc:sldMk cId="1422866431" sldId="265"/>
        </pc:sldMkLst>
        <pc:spChg chg="add mod">
          <ac:chgData name="Pracheta Ganguly" userId="4217edf7c6c44b05" providerId="LiveId" clId="{EB44F2AA-CBD7-494D-9883-37AC84F5CA9A}" dt="2025-09-28T13:21:46.734" v="61" actId="1076"/>
          <ac:spMkLst>
            <pc:docMk/>
            <pc:sldMk cId="1422866431" sldId="265"/>
            <ac:spMk id="10" creationId="{DF8FCDDB-5C56-F818-17C7-9ADA91BE5898}"/>
          </ac:spMkLst>
        </pc:spChg>
        <pc:spChg chg="add mod">
          <ac:chgData name="Pracheta Ganguly" userId="4217edf7c6c44b05" providerId="LiveId" clId="{EB44F2AA-CBD7-494D-9883-37AC84F5CA9A}" dt="2025-09-28T13:20:43.038" v="50" actId="20577"/>
          <ac:spMkLst>
            <pc:docMk/>
            <pc:sldMk cId="1422866431" sldId="265"/>
            <ac:spMk id="12" creationId="{A1F6EAC4-7365-B50C-856D-AA78DAAE5133}"/>
          </ac:spMkLst>
        </pc:spChg>
        <pc:spChg chg="mod">
          <ac:chgData name="Pracheta Ganguly" userId="4217edf7c6c44b05" providerId="LiveId" clId="{EB44F2AA-CBD7-494D-9883-37AC84F5CA9A}" dt="2025-09-28T13:20:06.225" v="41" actId="1076"/>
          <ac:spMkLst>
            <pc:docMk/>
            <pc:sldMk cId="1422866431" sldId="265"/>
            <ac:spMk id="22" creationId="{06B91D57-D010-8E40-C645-8910C60FB1B6}"/>
          </ac:spMkLst>
        </pc:spChg>
        <pc:spChg chg="mod">
          <ac:chgData name="Pracheta Ganguly" userId="4217edf7c6c44b05" providerId="LiveId" clId="{EB44F2AA-CBD7-494D-9883-37AC84F5CA9A}" dt="2025-09-28T13:21:21.654" v="56" actId="20577"/>
          <ac:spMkLst>
            <pc:docMk/>
            <pc:sldMk cId="1422866431" sldId="265"/>
            <ac:spMk id="23" creationId="{95C193BA-A322-3783-21D7-6E8E1D4A5344}"/>
          </ac:spMkLst>
        </pc:spChg>
        <pc:spChg chg="mod">
          <ac:chgData name="Pracheta Ganguly" userId="4217edf7c6c44b05" providerId="LiveId" clId="{EB44F2AA-CBD7-494D-9883-37AC84F5CA9A}" dt="2025-09-28T13:20:24.581" v="43" actId="1076"/>
          <ac:spMkLst>
            <pc:docMk/>
            <pc:sldMk cId="1422866431" sldId="265"/>
            <ac:spMk id="24" creationId="{18514329-B8DF-5E71-7E9A-BC7D75B112EF}"/>
          </ac:spMkLst>
        </pc:spChg>
        <pc:spChg chg="mod">
          <ac:chgData name="Pracheta Ganguly" userId="4217edf7c6c44b05" providerId="LiveId" clId="{EB44F2AA-CBD7-494D-9883-37AC84F5CA9A}" dt="2025-09-28T13:20:51.276" v="51" actId="1076"/>
          <ac:spMkLst>
            <pc:docMk/>
            <pc:sldMk cId="1422866431" sldId="265"/>
            <ac:spMk id="25" creationId="{3E559132-C5A7-2C87-9D77-9D50B7A03A50}"/>
          </ac:spMkLst>
        </pc:spChg>
        <pc:spChg chg="mod">
          <ac:chgData name="Pracheta Ganguly" userId="4217edf7c6c44b05" providerId="LiveId" clId="{EB44F2AA-CBD7-494D-9883-37AC84F5CA9A}" dt="2025-09-28T13:21:35.469" v="60" actId="1076"/>
          <ac:spMkLst>
            <pc:docMk/>
            <pc:sldMk cId="1422866431" sldId="265"/>
            <ac:spMk id="26" creationId="{FB88F596-651A-1DDD-9429-469C3B6972FE}"/>
          </ac:spMkLst>
        </pc:spChg>
        <pc:spChg chg="mod">
          <ac:chgData name="Pracheta Ganguly" userId="4217edf7c6c44b05" providerId="LiveId" clId="{EB44F2AA-CBD7-494D-9883-37AC84F5CA9A}" dt="2025-09-28T13:21:30.897" v="59" actId="1076"/>
          <ac:spMkLst>
            <pc:docMk/>
            <pc:sldMk cId="1422866431" sldId="265"/>
            <ac:spMk id="27" creationId="{832DE267-E859-8CE7-0321-8DB876A632D9}"/>
          </ac:spMkLst>
        </pc:spChg>
        <pc:spChg chg="mod">
          <ac:chgData name="Pracheta Ganguly" userId="4217edf7c6c44b05" providerId="LiveId" clId="{EB44F2AA-CBD7-494D-9883-37AC84F5CA9A}" dt="2025-09-28T13:22:18.808" v="65" actId="1076"/>
          <ac:spMkLst>
            <pc:docMk/>
            <pc:sldMk cId="1422866431" sldId="265"/>
            <ac:spMk id="28" creationId="{613AA254-AFD8-C711-5CF6-0BBAC1F262CE}"/>
          </ac:spMkLst>
        </pc:spChg>
        <pc:spChg chg="mod">
          <ac:chgData name="Pracheta Ganguly" userId="4217edf7c6c44b05" providerId="LiveId" clId="{EB44F2AA-CBD7-494D-9883-37AC84F5CA9A}" dt="2025-09-28T13:22:09.846" v="64" actId="1076"/>
          <ac:spMkLst>
            <pc:docMk/>
            <pc:sldMk cId="1422866431" sldId="265"/>
            <ac:spMk id="29" creationId="{9B574847-71E8-8AD7-F065-F9C42D50C5F3}"/>
          </ac:spMkLst>
        </pc:spChg>
        <pc:picChg chg="add mod">
          <ac:chgData name="Pracheta Ganguly" userId="4217edf7c6c44b05" providerId="LiveId" clId="{EB44F2AA-CBD7-494D-9883-37AC84F5CA9A}" dt="2025-09-28T13:05:48.826" v="33" actId="14100"/>
          <ac:picMkLst>
            <pc:docMk/>
            <pc:sldMk cId="1422866431" sldId="265"/>
            <ac:picMk id="5" creationId="{40CC1161-80E2-770A-2DFE-59F349F6EBA0}"/>
          </ac:picMkLst>
        </pc:picChg>
        <pc:picChg chg="mod">
          <ac:chgData name="Pracheta Ganguly" userId="4217edf7c6c44b05" providerId="LiveId" clId="{EB44F2AA-CBD7-494D-9883-37AC84F5CA9A}" dt="2025-09-28T13:03:46.052" v="10" actId="1076"/>
          <ac:picMkLst>
            <pc:docMk/>
            <pc:sldMk cId="1422866431" sldId="265"/>
            <ac:picMk id="7" creationId="{5FC9299E-EFF2-6B00-61E7-34D98A88C1B4}"/>
          </ac:picMkLst>
        </pc:picChg>
        <pc:picChg chg="add mod">
          <ac:chgData name="Pracheta Ganguly" userId="4217edf7c6c44b05" providerId="LiveId" clId="{EB44F2AA-CBD7-494D-9883-37AC84F5CA9A}" dt="2025-09-28T13:04:05.685" v="15" actId="14100"/>
          <ac:picMkLst>
            <pc:docMk/>
            <pc:sldMk cId="1422866431" sldId="265"/>
            <ac:picMk id="8" creationId="{F555A133-D717-A7F5-A2EC-CF853CFD7C0D}"/>
          </ac:picMkLst>
        </pc:picChg>
        <pc:picChg chg="mod">
          <ac:chgData name="Pracheta Ganguly" userId="4217edf7c6c44b05" providerId="LiveId" clId="{EB44F2AA-CBD7-494D-9883-37AC84F5CA9A}" dt="2025-09-28T13:03:51.499" v="11" actId="1076"/>
          <ac:picMkLst>
            <pc:docMk/>
            <pc:sldMk cId="1422866431" sldId="265"/>
            <ac:picMk id="9" creationId="{8EF17D85-2ED4-F392-6CEF-DA8863DA3512}"/>
          </ac:picMkLst>
        </pc:picChg>
        <pc:picChg chg="mod">
          <ac:chgData name="Pracheta Ganguly" userId="4217edf7c6c44b05" providerId="LiveId" clId="{EB44F2AA-CBD7-494D-9883-37AC84F5CA9A}" dt="2025-09-28T13:03:58.109" v="13" actId="1076"/>
          <ac:picMkLst>
            <pc:docMk/>
            <pc:sldMk cId="1422866431" sldId="265"/>
            <ac:picMk id="11" creationId="{BE7DFEBB-A1F2-3514-AA79-1146D7D81158}"/>
          </ac:picMkLst>
        </pc:picChg>
        <pc:picChg chg="mod">
          <ac:chgData name="Pracheta Ganguly" userId="4217edf7c6c44b05" providerId="LiveId" clId="{EB44F2AA-CBD7-494D-9883-37AC84F5CA9A}" dt="2025-09-28T13:04:10.817" v="16" actId="1076"/>
          <ac:picMkLst>
            <pc:docMk/>
            <pc:sldMk cId="1422866431" sldId="265"/>
            <ac:picMk id="13" creationId="{58BE1153-D963-36FE-6232-55C353576B10}"/>
          </ac:picMkLst>
        </pc:picChg>
        <pc:picChg chg="mod">
          <ac:chgData name="Pracheta Ganguly" userId="4217edf7c6c44b05" providerId="LiveId" clId="{EB44F2AA-CBD7-494D-9883-37AC84F5CA9A}" dt="2025-09-28T13:04:17.868" v="18" actId="1076"/>
          <ac:picMkLst>
            <pc:docMk/>
            <pc:sldMk cId="1422866431" sldId="265"/>
            <ac:picMk id="15" creationId="{407109BD-262A-1686-0E45-B7DB89D40CC1}"/>
          </ac:picMkLst>
        </pc:picChg>
        <pc:picChg chg="mod">
          <ac:chgData name="Pracheta Ganguly" userId="4217edf7c6c44b05" providerId="LiveId" clId="{EB44F2AA-CBD7-494D-9883-37AC84F5CA9A}" dt="2025-09-28T13:06:00.946" v="35" actId="1076"/>
          <ac:picMkLst>
            <pc:docMk/>
            <pc:sldMk cId="1422866431" sldId="265"/>
            <ac:picMk id="17" creationId="{656BAA6B-478D-80FD-9486-3A7733966A5F}"/>
          </ac:picMkLst>
        </pc:picChg>
        <pc:picChg chg="mod">
          <ac:chgData name="Pracheta Ganguly" userId="4217edf7c6c44b05" providerId="LiveId" clId="{EB44F2AA-CBD7-494D-9883-37AC84F5CA9A}" dt="2025-09-28T13:08:20.391" v="38" actId="1076"/>
          <ac:picMkLst>
            <pc:docMk/>
            <pc:sldMk cId="1422866431" sldId="265"/>
            <ac:picMk id="19" creationId="{1093DDAE-CB7E-0B85-ED79-BD2870DD5435}"/>
          </ac:picMkLst>
        </pc:picChg>
        <pc:picChg chg="mod">
          <ac:chgData name="Pracheta Ganguly" userId="4217edf7c6c44b05" providerId="LiveId" clId="{EB44F2AA-CBD7-494D-9883-37AC84F5CA9A}" dt="2025-09-28T13:08:14.669" v="37" actId="1076"/>
          <ac:picMkLst>
            <pc:docMk/>
            <pc:sldMk cId="1422866431" sldId="265"/>
            <ac:picMk id="21" creationId="{884A9AE4-01A6-9C01-E890-25C2617A4D76}"/>
          </ac:picMkLst>
        </pc:pic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B3552A3-1998-4B47-A26D-598492FC109B}" type="datetimeFigureOut">
              <a:rPr lang="en-US" smtClean="0"/>
              <a:t>10/8/2025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FAE44E7F-9973-4B9A-9D96-C5F58F00FE2B}" type="slidenum">
              <a:rPr lang="en-US" smtClean="0"/>
              <a:t>‹#›</a:t>
            </a:fld>
            <a:endParaRPr lang="en-US"/>
          </a:p>
        </p:txBody>
      </p:sp>
    </p:spTree>
    <p:extLst>
      <p:ext uri="{BB962C8B-B14F-4D97-AF65-F5344CB8AC3E}">
        <p14:creationId xmlns:p14="http://schemas.microsoft.com/office/powerpoint/2010/main" val="80411562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FAE44E7F-9973-4B9A-9D96-C5F58F00FE2B}" type="slidenum">
              <a:rPr lang="en-US" smtClean="0"/>
              <a:t>1</a:t>
            </a:fld>
            <a:endParaRPr lang="en-US"/>
          </a:p>
        </p:txBody>
      </p:sp>
    </p:spTree>
    <p:extLst>
      <p:ext uri="{BB962C8B-B14F-4D97-AF65-F5344CB8AC3E}">
        <p14:creationId xmlns:p14="http://schemas.microsoft.com/office/powerpoint/2010/main" val="275921477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D86D5F-EC07-AA76-70AF-5E5780B8608D}"/>
              </a:ext>
            </a:extLst>
          </p:cNvPr>
          <p:cNvSpPr>
            <a:spLocks noGrp="1"/>
          </p:cNvSpPr>
          <p:nvPr>
            <p:ph type="ctrTitle"/>
          </p:nvPr>
        </p:nvSpPr>
        <p:spPr>
          <a:xfrm>
            <a:off x="1524000" y="1122363"/>
            <a:ext cx="9144000" cy="1124448"/>
          </a:xfrm>
        </p:spPr>
        <p:txBody>
          <a:bodyPr anchor="b"/>
          <a:lstStyle>
            <a:lvl1pPr algn="ctr">
              <a:defRPr sz="6000"/>
            </a:lvl1pPr>
          </a:lstStyle>
          <a:p>
            <a:r>
              <a:rPr lang="en-US"/>
              <a:t>Click to edit Master title style</a:t>
            </a:r>
          </a:p>
        </p:txBody>
      </p:sp>
      <p:sp>
        <p:nvSpPr>
          <p:cNvPr id="3" name="Subtitle 2">
            <a:extLst>
              <a:ext uri="{FF2B5EF4-FFF2-40B4-BE49-F238E27FC236}">
                <a16:creationId xmlns:a16="http://schemas.microsoft.com/office/drawing/2014/main" id="{8CE82B28-4417-F1D6-91B0-5046278FB4E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Tree>
    <p:extLst>
      <p:ext uri="{BB962C8B-B14F-4D97-AF65-F5344CB8AC3E}">
        <p14:creationId xmlns:p14="http://schemas.microsoft.com/office/powerpoint/2010/main" val="30915048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78CBD2-128E-8F0E-34C9-1D276F31424A}"/>
              </a:ext>
            </a:extLst>
          </p:cNvPr>
          <p:cNvSpPr>
            <a:spLocks noGrp="1"/>
          </p:cNvSpPr>
          <p:nvPr>
            <p:ph type="title"/>
          </p:nvPr>
        </p:nvSpPr>
        <p:spPr/>
        <p:txBody>
          <a:bodyPr/>
          <a:lstStyle/>
          <a:p>
            <a:r>
              <a:rPr lang="en-US"/>
              <a:t>Click to edit Master title style</a:t>
            </a:r>
          </a:p>
        </p:txBody>
      </p:sp>
      <p:sp>
        <p:nvSpPr>
          <p:cNvPr id="3" name="Slide Number Placeholder 2">
            <a:extLst>
              <a:ext uri="{FF2B5EF4-FFF2-40B4-BE49-F238E27FC236}">
                <a16:creationId xmlns:a16="http://schemas.microsoft.com/office/drawing/2014/main" id="{9399C622-C37F-39D7-D80A-46F0ABC9FFAD}"/>
              </a:ext>
            </a:extLst>
          </p:cNvPr>
          <p:cNvSpPr>
            <a:spLocks noGrp="1"/>
          </p:cNvSpPr>
          <p:nvPr>
            <p:ph type="sldNum" sz="quarter" idx="10"/>
          </p:nvPr>
        </p:nvSpPr>
        <p:spPr>
          <a:xfrm>
            <a:off x="10835640" y="6492875"/>
            <a:ext cx="1356360" cy="365125"/>
          </a:xfrm>
          <a:prstGeom prst="rect">
            <a:avLst/>
          </a:prstGeom>
        </p:spPr>
        <p:txBody>
          <a:bodyPr/>
          <a:lstStyle/>
          <a:p>
            <a:fld id="{98045765-9D82-4A4A-9458-B21A2E924861}" type="slidenum">
              <a:rPr lang="en-US" smtClean="0"/>
              <a:t>‹#›</a:t>
            </a:fld>
            <a:endParaRPr lang="en-US"/>
          </a:p>
        </p:txBody>
      </p:sp>
    </p:spTree>
    <p:extLst>
      <p:ext uri="{BB962C8B-B14F-4D97-AF65-F5344CB8AC3E}">
        <p14:creationId xmlns:p14="http://schemas.microsoft.com/office/powerpoint/2010/main" val="1172243371"/>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D10CD708-580B-715A-8329-1314C96EE7B2}"/>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dirty="0"/>
              <a:t>Click to edit Master title style</a:t>
            </a:r>
          </a:p>
        </p:txBody>
      </p:sp>
      <p:sp>
        <p:nvSpPr>
          <p:cNvPr id="3" name="Text Placeholder 2">
            <a:extLst>
              <a:ext uri="{FF2B5EF4-FFF2-40B4-BE49-F238E27FC236}">
                <a16:creationId xmlns:a16="http://schemas.microsoft.com/office/drawing/2014/main" id="{2A9A853E-5265-EA45-32F1-BE1086D1FB71}"/>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15" name="Slide Number Placeholder 5">
            <a:extLst>
              <a:ext uri="{FF2B5EF4-FFF2-40B4-BE49-F238E27FC236}">
                <a16:creationId xmlns:a16="http://schemas.microsoft.com/office/drawing/2014/main" id="{39CBC2BA-A342-3419-6817-77454A97DCCB}"/>
              </a:ext>
            </a:extLst>
          </p:cNvPr>
          <p:cNvSpPr txBox="1">
            <a:spLocks/>
          </p:cNvSpPr>
          <p:nvPr userDrawn="1"/>
        </p:nvSpPr>
        <p:spPr>
          <a:xfrm>
            <a:off x="679268" y="6402125"/>
            <a:ext cx="1066429" cy="365125"/>
          </a:xfrm>
          <a:prstGeom prst="rect">
            <a:avLst/>
          </a:prstGeom>
        </p:spPr>
        <p:txBody>
          <a:bodyPr vert="horz" lIns="91440" tIns="45720" rIns="91440" bIns="45720" rtlCol="0" anchor="ctr"/>
          <a:lstStyle>
            <a:defPPr>
              <a:defRPr lang="en-US"/>
            </a:defPPr>
            <a:lvl1pPr marL="0" algn="r" defTabSz="914400" rtl="0" eaLnBrk="1" latinLnBrk="0" hangingPunct="1">
              <a:defRPr sz="1200" kern="1200">
                <a:solidFill>
                  <a:schemeClr val="bg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dirty="0">
                <a:solidFill>
                  <a:schemeClr val="bg1"/>
                </a:solidFill>
              </a:rPr>
              <a:t>9/24/2025</a:t>
            </a:r>
          </a:p>
        </p:txBody>
      </p:sp>
      <p:sp>
        <p:nvSpPr>
          <p:cNvPr id="4" name="Rectangle 3">
            <a:extLst>
              <a:ext uri="{FF2B5EF4-FFF2-40B4-BE49-F238E27FC236}">
                <a16:creationId xmlns:a16="http://schemas.microsoft.com/office/drawing/2014/main" id="{66B52A3D-FB46-0CE8-EA20-8A116076F4EE}"/>
              </a:ext>
            </a:extLst>
          </p:cNvPr>
          <p:cNvSpPr/>
          <p:nvPr userDrawn="1"/>
        </p:nvSpPr>
        <p:spPr>
          <a:xfrm>
            <a:off x="0" y="5962308"/>
            <a:ext cx="12192000" cy="914400"/>
          </a:xfrm>
          <a:prstGeom prst="rect">
            <a:avLst/>
          </a:prstGeom>
          <a:gradFill>
            <a:gsLst>
              <a:gs pos="2000">
                <a:schemeClr val="accent1">
                  <a:lumMod val="5000"/>
                  <a:lumOff val="95000"/>
                </a:schemeClr>
              </a:gs>
              <a:gs pos="39000">
                <a:schemeClr val="accent4">
                  <a:lumMod val="20000"/>
                  <a:lumOff val="80000"/>
                </a:schemeClr>
              </a:gs>
              <a:gs pos="96000">
                <a:srgbClr val="FF0000">
                  <a:lumMod val="36000"/>
                  <a:lumOff val="64000"/>
                </a:srgb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IN" sz="2200" b="1" i="0" dirty="0">
                <a:solidFill>
                  <a:schemeClr val="tx1"/>
                </a:solidFill>
                <a:latin typeface="Constantia" panose="02030602050306030303" pitchFamily="18" charset="0"/>
              </a:rPr>
              <a:t>1</a:t>
            </a:r>
            <a:r>
              <a:rPr lang="en-IN" sz="2200" b="1" i="0" baseline="30000" dirty="0">
                <a:solidFill>
                  <a:schemeClr val="tx1"/>
                </a:solidFill>
                <a:latin typeface="Constantia" panose="02030602050306030303" pitchFamily="18" charset="0"/>
              </a:rPr>
              <a:t>st</a:t>
            </a:r>
            <a:r>
              <a:rPr lang="en-IN" sz="2200" b="1" i="0" dirty="0">
                <a:solidFill>
                  <a:schemeClr val="tx1"/>
                </a:solidFill>
                <a:latin typeface="Constantia" panose="02030602050306030303" pitchFamily="18" charset="0"/>
              </a:rPr>
              <a:t> International Conference on </a:t>
            </a:r>
            <a:r>
              <a:rPr lang="en-IN" sz="2200" b="1" i="0" dirty="0" err="1">
                <a:solidFill>
                  <a:schemeClr val="tx1"/>
                </a:solidFill>
                <a:latin typeface="Constantia" panose="02030602050306030303" pitchFamily="18" charset="0"/>
              </a:rPr>
              <a:t>Thermofluids</a:t>
            </a:r>
            <a:r>
              <a:rPr lang="en-IN" sz="2200" b="1" i="0" dirty="0">
                <a:solidFill>
                  <a:schemeClr val="tx1"/>
                </a:solidFill>
                <a:latin typeface="Constantia" panose="02030602050306030303" pitchFamily="18" charset="0"/>
              </a:rPr>
              <a:t> Engineering, 10</a:t>
            </a:r>
            <a:r>
              <a:rPr lang="en-IN" sz="2200" b="1" i="0" baseline="30000" dirty="0">
                <a:solidFill>
                  <a:schemeClr val="tx1"/>
                </a:solidFill>
                <a:latin typeface="Constantia" panose="02030602050306030303" pitchFamily="18" charset="0"/>
              </a:rPr>
              <a:t>th</a:t>
            </a:r>
            <a:r>
              <a:rPr lang="en-IN" sz="2200" b="1" i="0" dirty="0">
                <a:solidFill>
                  <a:schemeClr val="tx1"/>
                </a:solidFill>
                <a:latin typeface="Constantia" panose="02030602050306030303" pitchFamily="18" charset="0"/>
              </a:rPr>
              <a:t> – 12</a:t>
            </a:r>
            <a:r>
              <a:rPr lang="en-IN" sz="2200" b="1" i="0" baseline="30000" dirty="0">
                <a:solidFill>
                  <a:schemeClr val="tx1"/>
                </a:solidFill>
                <a:latin typeface="Constantia" panose="02030602050306030303" pitchFamily="18" charset="0"/>
              </a:rPr>
              <a:t>th</a:t>
            </a:r>
            <a:r>
              <a:rPr lang="en-IN" sz="2200" b="1" i="0" dirty="0">
                <a:solidFill>
                  <a:schemeClr val="tx1"/>
                </a:solidFill>
                <a:latin typeface="Constantia" panose="02030602050306030303" pitchFamily="18" charset="0"/>
              </a:rPr>
              <a:t> October 2025</a:t>
            </a:r>
          </a:p>
          <a:p>
            <a:pPr algn="ctr"/>
            <a:r>
              <a:rPr lang="en-IN" sz="2200" b="1" i="0" dirty="0">
                <a:solidFill>
                  <a:schemeClr val="tx1"/>
                </a:solidFill>
                <a:latin typeface="Constantia" panose="02030602050306030303" pitchFamily="18" charset="0"/>
              </a:rPr>
              <a:t> IIT(ISM) Dhanbad, India</a:t>
            </a:r>
            <a:r>
              <a:rPr lang="en-IN" sz="2200" b="1" i="0" baseline="30000" dirty="0">
                <a:solidFill>
                  <a:schemeClr val="tx1"/>
                </a:solidFill>
                <a:latin typeface="Constantia" panose="02030602050306030303" pitchFamily="18" charset="0"/>
              </a:rPr>
              <a:t>  </a:t>
            </a:r>
            <a:endParaRPr lang="en-IN" sz="2200" b="1" i="0" dirty="0">
              <a:solidFill>
                <a:schemeClr val="tx1"/>
              </a:solidFill>
              <a:latin typeface="Constantia" panose="02030602050306030303" pitchFamily="18" charset="0"/>
            </a:endParaRPr>
          </a:p>
        </p:txBody>
      </p:sp>
      <p:sp>
        <p:nvSpPr>
          <p:cNvPr id="5" name="Slide Number Placeholder 5">
            <a:extLst>
              <a:ext uri="{FF2B5EF4-FFF2-40B4-BE49-F238E27FC236}">
                <a16:creationId xmlns:a16="http://schemas.microsoft.com/office/drawing/2014/main" id="{D87CAE35-5CCC-C4AA-448D-DC25F22492FD}"/>
              </a:ext>
            </a:extLst>
          </p:cNvPr>
          <p:cNvSpPr>
            <a:spLocks noGrp="1"/>
          </p:cNvSpPr>
          <p:nvPr>
            <p:ph type="sldNum" sz="quarter" idx="4"/>
          </p:nvPr>
        </p:nvSpPr>
        <p:spPr>
          <a:xfrm>
            <a:off x="10675620" y="6492875"/>
            <a:ext cx="1356360" cy="365125"/>
          </a:xfrm>
          <a:prstGeom prst="rect">
            <a:avLst/>
          </a:prstGeom>
        </p:spPr>
        <p:txBody>
          <a:bodyPr vert="horz" lIns="91440" tIns="45720" rIns="91440" bIns="45720" rtlCol="0" anchor="ctr"/>
          <a:lstStyle>
            <a:lvl1pPr algn="r">
              <a:defRPr sz="1400" b="1">
                <a:solidFill>
                  <a:schemeClr val="tx1"/>
                </a:solidFill>
              </a:defRPr>
            </a:lvl1pPr>
          </a:lstStyle>
          <a:p>
            <a:fld id="{98045765-9D82-4A4A-9458-B21A2E924861}" type="slidenum">
              <a:rPr lang="en-US" smtClean="0"/>
              <a:pPr/>
              <a:t>‹#›</a:t>
            </a:fld>
            <a:endParaRPr lang="en-US" dirty="0"/>
          </a:p>
        </p:txBody>
      </p:sp>
      <p:pic>
        <p:nvPicPr>
          <p:cNvPr id="11" name="Picture 10">
            <a:extLst>
              <a:ext uri="{FF2B5EF4-FFF2-40B4-BE49-F238E27FC236}">
                <a16:creationId xmlns:a16="http://schemas.microsoft.com/office/drawing/2014/main" id="{8ED70306-9C2E-E9E0-C36B-F800257F2B34}"/>
              </a:ext>
            </a:extLst>
          </p:cNvPr>
          <p:cNvPicPr>
            <a:picLocks noChangeAspect="1"/>
          </p:cNvPicPr>
          <p:nvPr userDrawn="1"/>
        </p:nvPicPr>
        <p:blipFill>
          <a:blip r:embed="rId4" cstate="hqprint">
            <a:extLst>
              <a:ext uri="{28A0092B-C50C-407E-A947-70E740481C1C}">
                <a14:useLocalDpi xmlns:a14="http://schemas.microsoft.com/office/drawing/2010/main" val="0"/>
              </a:ext>
            </a:extLst>
          </a:blip>
          <a:srcRect l="13451" t="13050" r="12364" b="13901"/>
          <a:stretch>
            <a:fillRect/>
          </a:stretch>
        </p:blipFill>
        <p:spPr>
          <a:xfrm>
            <a:off x="97276" y="87548"/>
            <a:ext cx="1080000" cy="1063481"/>
          </a:xfrm>
          <a:prstGeom prst="rect">
            <a:avLst/>
          </a:prstGeom>
        </p:spPr>
      </p:pic>
    </p:spTree>
    <p:extLst>
      <p:ext uri="{BB962C8B-B14F-4D97-AF65-F5344CB8AC3E}">
        <p14:creationId xmlns:p14="http://schemas.microsoft.com/office/powerpoint/2010/main" val="4227406297"/>
      </p:ext>
    </p:extLst>
  </p:cSld>
  <p:clrMap bg1="lt1" tx1="dk1" bg2="lt2" tx2="dk2" accent1="accent1" accent2="accent2" accent3="accent3" accent4="accent4" accent5="accent5" accent6="accent6" hlink="hlink" folHlink="folHlink"/>
  <p:sldLayoutIdLst>
    <p:sldLayoutId id="2147483661" r:id="rId1"/>
    <p:sldLayoutId id="2147483662" r:id="rId2"/>
  </p:sldLayoutIdLst>
  <p:hf hdr="0" ftr="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 Id="rId4" Type="http://schemas.openxmlformats.org/officeDocument/2006/relationships/image" Target="../media/image8.jpg"/></Relationships>
</file>

<file path=ppt/slides/_rels/slide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image" Target="../media/image10.png"/><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19.png"/><Relationship Id="rId7" Type="http://schemas.openxmlformats.org/officeDocument/2006/relationships/image" Target="../media/image23.png"/><Relationship Id="rId2" Type="http://schemas.openxmlformats.org/officeDocument/2006/relationships/image" Target="../media/image18.png"/><Relationship Id="rId1" Type="http://schemas.openxmlformats.org/officeDocument/2006/relationships/slideLayout" Target="../slideLayouts/slideLayout2.xml"/><Relationship Id="rId6" Type="http://schemas.openxmlformats.org/officeDocument/2006/relationships/image" Target="../media/image22.png"/><Relationship Id="rId5" Type="http://schemas.openxmlformats.org/officeDocument/2006/relationships/image" Target="../media/image21.png"/><Relationship Id="rId4" Type="http://schemas.openxmlformats.org/officeDocument/2006/relationships/image" Target="../media/image20.png"/></Relationships>
</file>

<file path=ppt/slides/_rels/slide10.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image" Target="../media/image25.png"/><Relationship Id="rId1" Type="http://schemas.openxmlformats.org/officeDocument/2006/relationships/slideLayout" Target="../slideLayouts/slideLayout2.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 Id="rId9" Type="http://schemas.openxmlformats.org/officeDocument/2006/relationships/image" Target="../media/image32.png"/></Relationships>
</file>

<file path=ppt/slides/_rels/slide11.xml.rels><?xml version="1.0" encoding="UTF-8" standalone="yes"?>
<Relationships xmlns="http://schemas.openxmlformats.org/package/2006/relationships"><Relationship Id="rId8" Type="http://schemas.openxmlformats.org/officeDocument/2006/relationships/image" Target="../media/image39.png"/><Relationship Id="rId3" Type="http://schemas.openxmlformats.org/officeDocument/2006/relationships/image" Target="../media/image34.png"/><Relationship Id="rId7" Type="http://schemas.openxmlformats.org/officeDocument/2006/relationships/image" Target="../media/image38.png"/><Relationship Id="rId2" Type="http://schemas.openxmlformats.org/officeDocument/2006/relationships/image" Target="../media/image33.png"/><Relationship Id="rId1" Type="http://schemas.openxmlformats.org/officeDocument/2006/relationships/slideLayout" Target="../slideLayouts/slideLayout2.xml"/><Relationship Id="rId6" Type="http://schemas.openxmlformats.org/officeDocument/2006/relationships/image" Target="../media/image37.png"/><Relationship Id="rId5" Type="http://schemas.openxmlformats.org/officeDocument/2006/relationships/image" Target="../media/image36.png"/><Relationship Id="rId4" Type="http://schemas.openxmlformats.org/officeDocument/2006/relationships/image" Target="../media/image35.png"/><Relationship Id="rId9" Type="http://schemas.openxmlformats.org/officeDocument/2006/relationships/image" Target="../media/image40.png"/></Relationships>
</file>

<file path=ppt/slides/_rels/slide12.xml.rels><?xml version="1.0" encoding="UTF-8" standalone="yes"?>
<Relationships xmlns="http://schemas.openxmlformats.org/package/2006/relationships"><Relationship Id="rId8" Type="http://schemas.openxmlformats.org/officeDocument/2006/relationships/image" Target="../media/image47.pn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png"/><Relationship Id="rId1" Type="http://schemas.openxmlformats.org/officeDocument/2006/relationships/slideLayout" Target="../slideLayouts/slideLayout2.xml"/><Relationship Id="rId6" Type="http://schemas.openxmlformats.org/officeDocument/2006/relationships/image" Target="../media/image45.png"/><Relationship Id="rId11" Type="http://schemas.openxmlformats.org/officeDocument/2006/relationships/image" Target="../media/image50.png"/><Relationship Id="rId5" Type="http://schemas.openxmlformats.org/officeDocument/2006/relationships/image" Target="../media/image44.png"/><Relationship Id="rId10" Type="http://schemas.openxmlformats.org/officeDocument/2006/relationships/image" Target="../media/image49.png"/><Relationship Id="rId4" Type="http://schemas.openxmlformats.org/officeDocument/2006/relationships/image" Target="../media/image43.png"/><Relationship Id="rId9" Type="http://schemas.openxmlformats.org/officeDocument/2006/relationships/image" Target="../media/image48.png"/></Relationships>
</file>

<file path=ppt/slides/_rels/slide13.xml.rels><?xml version="1.0" encoding="UTF-8" standalone="yes"?>
<Relationships xmlns="http://schemas.openxmlformats.org/package/2006/relationships"><Relationship Id="rId8" Type="http://schemas.openxmlformats.org/officeDocument/2006/relationships/image" Target="../media/image57.pn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png"/><Relationship Id="rId1" Type="http://schemas.openxmlformats.org/officeDocument/2006/relationships/slideLayout" Target="../slideLayouts/slideLayout2.xml"/><Relationship Id="rId6" Type="http://schemas.openxmlformats.org/officeDocument/2006/relationships/image" Target="../media/image55.png"/><Relationship Id="rId11" Type="http://schemas.openxmlformats.org/officeDocument/2006/relationships/image" Target="../media/image60.jpeg"/><Relationship Id="rId5" Type="http://schemas.openxmlformats.org/officeDocument/2006/relationships/image" Target="../media/image54.png"/><Relationship Id="rId10" Type="http://schemas.openxmlformats.org/officeDocument/2006/relationships/image" Target="../media/image59.jpeg"/><Relationship Id="rId4" Type="http://schemas.openxmlformats.org/officeDocument/2006/relationships/image" Target="../media/image53.png"/><Relationship Id="rId9" Type="http://schemas.openxmlformats.org/officeDocument/2006/relationships/image" Target="../media/image58.jpeg"/></Relationships>
</file>

<file path=ppt/slides/_rels/slide14.xml.rels><?xml version="1.0" encoding="UTF-8" standalone="yes"?>
<Relationships xmlns="http://schemas.openxmlformats.org/package/2006/relationships"><Relationship Id="rId3" Type="http://schemas.openxmlformats.org/officeDocument/2006/relationships/image" Target="../media/image62.jpg"/><Relationship Id="rId2" Type="http://schemas.openxmlformats.org/officeDocument/2006/relationships/image" Target="../media/image61.png"/><Relationship Id="rId1" Type="http://schemas.openxmlformats.org/officeDocument/2006/relationships/slideLayout" Target="../slideLayouts/slideLayout2.xml"/><Relationship Id="rId5" Type="http://schemas.openxmlformats.org/officeDocument/2006/relationships/image" Target="../media/image64.jpg"/><Relationship Id="rId4" Type="http://schemas.openxmlformats.org/officeDocument/2006/relationships/image" Target="../media/image63.jpg"/></Relationships>
</file>

<file path=ppt/slides/_rels/slide15.xml.rels><?xml version="1.0" encoding="UTF-8" standalone="yes"?>
<Relationships xmlns="http://schemas.openxmlformats.org/package/2006/relationships"><Relationship Id="rId3" Type="http://schemas.openxmlformats.org/officeDocument/2006/relationships/image" Target="../media/image65.jpg"/><Relationship Id="rId2" Type="http://schemas.openxmlformats.org/officeDocument/2006/relationships/image" Target="../media/image65.png"/><Relationship Id="rId1" Type="http://schemas.openxmlformats.org/officeDocument/2006/relationships/slideLayout" Target="../slideLayouts/slideLayout2.xml"/><Relationship Id="rId4" Type="http://schemas.openxmlformats.org/officeDocument/2006/relationships/image" Target="../media/image66.jpg"/></Relationships>
</file>

<file path=ppt/slides/_rels/slide16.xml.rels><?xml version="1.0" encoding="UTF-8" standalone="yes"?>
<Relationships xmlns="http://schemas.openxmlformats.org/package/2006/relationships"><Relationship Id="rId3" Type="http://schemas.openxmlformats.org/officeDocument/2006/relationships/image" Target="../media/image67.png"/><Relationship Id="rId2" Type="http://schemas.openxmlformats.org/officeDocument/2006/relationships/image" Target="../media/image320.png"/><Relationship Id="rId1" Type="http://schemas.openxmlformats.org/officeDocument/2006/relationships/slideLayout" Target="../slideLayouts/slideLayout2.xml"/><Relationship Id="rId6" Type="http://schemas.openxmlformats.org/officeDocument/2006/relationships/image" Target="../media/image70.png"/><Relationship Id="rId5" Type="http://schemas.openxmlformats.org/officeDocument/2006/relationships/image" Target="../media/image350.png"/><Relationship Id="rId4" Type="http://schemas.openxmlformats.org/officeDocument/2006/relationships/image" Target="../media/image68.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1E23DA-4941-CEEC-0F97-8DA126EC7737}"/>
              </a:ext>
            </a:extLst>
          </p:cNvPr>
          <p:cNvSpPr>
            <a:spLocks noGrp="1"/>
          </p:cNvSpPr>
          <p:nvPr>
            <p:ph type="ctrTitle"/>
          </p:nvPr>
        </p:nvSpPr>
        <p:spPr>
          <a:xfrm>
            <a:off x="1524000" y="251926"/>
            <a:ext cx="9355494" cy="3237723"/>
          </a:xfrm>
        </p:spPr>
        <p:txBody>
          <a:bodyPr>
            <a:noAutofit/>
          </a:bodyPr>
          <a:lstStyle/>
          <a:p>
            <a:r>
              <a:rPr lang="en-US" sz="3600" dirty="0">
                <a:solidFill>
                  <a:srgbClr val="C00000"/>
                </a:solidFill>
                <a:latin typeface="Times New Roman" panose="02020603050405020304" pitchFamily="18" charset="0"/>
                <a:cs typeface="Times New Roman" panose="02020603050405020304" pitchFamily="18" charset="0"/>
              </a:rPr>
              <a:t>MHD Flow Around a Heated Stationary Cylinder at Moderate to High Reynolds Numbers</a:t>
            </a:r>
            <a:br>
              <a:rPr lang="en-US" sz="3600" dirty="0">
                <a:latin typeface="Times New Roman" panose="02020603050405020304" pitchFamily="18" charset="0"/>
                <a:cs typeface="Times New Roman" panose="02020603050405020304" pitchFamily="18" charset="0"/>
              </a:rPr>
            </a:br>
            <a:br>
              <a:rPr lang="en-US" sz="3000" b="1" dirty="0">
                <a:latin typeface="Arial" panose="020B0604020202020204" pitchFamily="34" charset="0"/>
                <a:cs typeface="Arial" panose="020B0604020202020204" pitchFamily="34" charset="0"/>
              </a:rPr>
            </a:br>
            <a:br>
              <a:rPr lang="en-US" sz="3000" dirty="0">
                <a:latin typeface="Arial" panose="020B0604020202020204" pitchFamily="34" charset="0"/>
                <a:cs typeface="Arial" panose="020B0604020202020204" pitchFamily="34" charset="0"/>
              </a:rPr>
            </a:br>
            <a:endParaRPr lang="en-US" sz="3000" dirty="0">
              <a:latin typeface="Arial" panose="020B0604020202020204" pitchFamily="34" charset="0"/>
              <a:cs typeface="Arial" panose="020B0604020202020204" pitchFamily="34" charset="0"/>
            </a:endParaRPr>
          </a:p>
        </p:txBody>
      </p:sp>
      <p:sp>
        <p:nvSpPr>
          <p:cNvPr id="3" name="Subtitle 2">
            <a:extLst>
              <a:ext uri="{FF2B5EF4-FFF2-40B4-BE49-F238E27FC236}">
                <a16:creationId xmlns:a16="http://schemas.microsoft.com/office/drawing/2014/main" id="{710A604F-4E06-3A1D-C622-660F338C20BE}"/>
              </a:ext>
            </a:extLst>
          </p:cNvPr>
          <p:cNvSpPr>
            <a:spLocks noGrp="1"/>
          </p:cNvSpPr>
          <p:nvPr>
            <p:ph type="subTitle" idx="1"/>
          </p:nvPr>
        </p:nvSpPr>
        <p:spPr>
          <a:xfrm>
            <a:off x="916413" y="4594677"/>
            <a:ext cx="9851472" cy="370681"/>
          </a:xfrm>
        </p:spPr>
        <p:txBody>
          <a:bodyPr>
            <a:noAutofit/>
          </a:bodyPr>
          <a:lstStyle/>
          <a:p>
            <a:r>
              <a:rPr lang="en-US" sz="1200" dirty="0">
                <a:latin typeface="Arial" panose="020B0604020202020204" pitchFamily="34" charset="0"/>
                <a:cs typeface="Arial" panose="020B0604020202020204" pitchFamily="34" charset="0"/>
              </a:rPr>
              <a:t>Author affiliations: </a:t>
            </a:r>
            <a:r>
              <a:rPr lang="en-GB" sz="1200" b="1" baseline="30000" dirty="0"/>
              <a:t>1</a:t>
            </a:r>
            <a:r>
              <a:rPr lang="en-GB" sz="1200" dirty="0"/>
              <a:t>Department of Mechanical Engineering, IIT(ISM) Dhanbad, Dhanbad-826004, Jharkhand, India </a:t>
            </a:r>
            <a:endParaRPr lang="en-IN" sz="1200" dirty="0"/>
          </a:p>
          <a:p>
            <a:r>
              <a:rPr lang="en-IN" sz="1200" b="1" baseline="30000" dirty="0"/>
              <a:t>2</a:t>
            </a:r>
            <a:r>
              <a:rPr lang="en-IN" sz="1200" dirty="0"/>
              <a:t>Academy of Scientific and Innovative Research, Ghaziabad-201002, India</a:t>
            </a:r>
          </a:p>
          <a:p>
            <a:r>
              <a:rPr lang="en-IN" sz="1200" b="1" baseline="30000" dirty="0"/>
              <a:t>3</a:t>
            </a:r>
            <a:r>
              <a:rPr lang="en-IN" sz="1200" dirty="0"/>
              <a:t>CSIR - Central Mechanical Engineering Research Institute, Durgapur-713209, India.</a:t>
            </a:r>
          </a:p>
          <a:p>
            <a:endParaRPr lang="en-US" sz="1200" dirty="0">
              <a:latin typeface="Arial" panose="020B0604020202020204" pitchFamily="34" charset="0"/>
              <a:cs typeface="Arial" panose="020B0604020202020204" pitchFamily="34" charset="0"/>
            </a:endParaRPr>
          </a:p>
        </p:txBody>
      </p:sp>
      <p:sp>
        <p:nvSpPr>
          <p:cNvPr id="4" name="TextBox 3">
            <a:extLst>
              <a:ext uri="{FF2B5EF4-FFF2-40B4-BE49-F238E27FC236}">
                <a16:creationId xmlns:a16="http://schemas.microsoft.com/office/drawing/2014/main" id="{2185878B-AAAD-AF0E-DD25-59B413EF31A8}"/>
              </a:ext>
            </a:extLst>
          </p:cNvPr>
          <p:cNvSpPr txBox="1"/>
          <p:nvPr/>
        </p:nvSpPr>
        <p:spPr>
          <a:xfrm>
            <a:off x="5079877" y="339610"/>
            <a:ext cx="1895071" cy="430887"/>
          </a:xfrm>
          <a:prstGeom prst="rect">
            <a:avLst/>
          </a:prstGeom>
          <a:noFill/>
        </p:spPr>
        <p:txBody>
          <a:bodyPr wrap="none" rtlCol="0">
            <a:spAutoFit/>
          </a:bodyPr>
          <a:lstStyle/>
          <a:p>
            <a:r>
              <a:rPr lang="en-US" sz="2200" b="1" dirty="0">
                <a:solidFill>
                  <a:srgbClr val="FF0000"/>
                </a:solidFill>
                <a:latin typeface="Arial" panose="020B0604020202020204" pitchFamily="34" charset="0"/>
                <a:cs typeface="Arial" panose="020B0604020202020204" pitchFamily="34" charset="0"/>
              </a:rPr>
              <a:t>Paper ID-251</a:t>
            </a:r>
          </a:p>
        </p:txBody>
      </p:sp>
      <p:sp>
        <p:nvSpPr>
          <p:cNvPr id="10" name="Google Shape;85;p1">
            <a:extLst>
              <a:ext uri="{FF2B5EF4-FFF2-40B4-BE49-F238E27FC236}">
                <a16:creationId xmlns:a16="http://schemas.microsoft.com/office/drawing/2014/main" id="{846CA0D9-3D16-F59F-861F-3492348218F8}"/>
              </a:ext>
            </a:extLst>
          </p:cNvPr>
          <p:cNvSpPr txBox="1"/>
          <p:nvPr/>
        </p:nvSpPr>
        <p:spPr>
          <a:xfrm>
            <a:off x="2166612" y="2582311"/>
            <a:ext cx="7721600" cy="709648"/>
          </a:xfrm>
          <a:prstGeom prst="rect">
            <a:avLst/>
          </a:prstGeom>
          <a:noFill/>
          <a:ln>
            <a:noFill/>
          </a:ln>
        </p:spPr>
        <p:txBody>
          <a:bodyPr spcFirstLastPara="1" wrap="square" lIns="91425" tIns="45700" rIns="91425" bIns="45700" anchor="t" anchorCtr="0">
            <a:noAutofit/>
          </a:bodyPr>
          <a:lstStyle/>
          <a:p>
            <a:pPr lvl="0" algn="ctr">
              <a:buClr>
                <a:schemeClr val="dk1"/>
              </a:buClr>
              <a:buSzPts val="2000"/>
            </a:pPr>
            <a:r>
              <a:rPr lang="en-US" sz="2400" b="1" dirty="0">
                <a:solidFill>
                  <a:schemeClr val="accent1">
                    <a:lumMod val="75000"/>
                  </a:schemeClr>
                </a:solidFill>
                <a:latin typeface="Times New Roman" panose="02020603050405020304" pitchFamily="18" charset="0"/>
                <a:ea typeface="Times New Roman"/>
                <a:cs typeface="Times New Roman" panose="02020603050405020304" pitchFamily="18" charset="0"/>
                <a:sym typeface="Times New Roman"/>
              </a:rPr>
              <a:t>Author and Presenter</a:t>
            </a:r>
            <a:r>
              <a:rPr lang="en-US" sz="2400" dirty="0">
                <a:solidFill>
                  <a:schemeClr val="accent1">
                    <a:lumMod val="75000"/>
                  </a:schemeClr>
                </a:solidFill>
                <a:latin typeface="Times New Roman" panose="02020603050405020304" pitchFamily="18" charset="0"/>
                <a:ea typeface="Times New Roman"/>
                <a:cs typeface="Times New Roman" panose="02020603050405020304" pitchFamily="18" charset="0"/>
                <a:sym typeface="Times New Roman"/>
              </a:rPr>
              <a:t>: </a:t>
            </a:r>
            <a:r>
              <a:rPr lang="en-US" sz="2400" dirty="0" err="1">
                <a:latin typeface="Times New Roman" panose="02020603050405020304" pitchFamily="18" charset="0"/>
                <a:ea typeface="Times New Roman"/>
                <a:cs typeface="Times New Roman" panose="02020603050405020304" pitchFamily="18" charset="0"/>
                <a:sym typeface="Times New Roman"/>
              </a:rPr>
              <a:t>Pracheta</a:t>
            </a:r>
            <a:r>
              <a:rPr lang="en-US" sz="2400" dirty="0">
                <a:latin typeface="Times New Roman" panose="02020603050405020304" pitchFamily="18" charset="0"/>
                <a:ea typeface="Times New Roman"/>
                <a:cs typeface="Times New Roman" panose="02020603050405020304" pitchFamily="18" charset="0"/>
                <a:sym typeface="Times New Roman"/>
              </a:rPr>
              <a:t> </a:t>
            </a:r>
            <a:r>
              <a:rPr lang="en-GB" sz="2400" dirty="0" err="1"/>
              <a:t>Ganguly</a:t>
            </a:r>
            <a:r>
              <a:rPr lang="en-GB" sz="2400" dirty="0"/>
              <a:t> </a:t>
            </a:r>
            <a:r>
              <a:rPr lang="en-GB" sz="2400" baseline="30000" dirty="0"/>
              <a:t>1</a:t>
            </a:r>
            <a:endParaRPr lang="en-US" sz="2400" dirty="0">
              <a:latin typeface="Times New Roman" panose="02020603050405020304" pitchFamily="18" charset="0"/>
              <a:ea typeface="Times New Roman"/>
              <a:cs typeface="Times New Roman" panose="02020603050405020304" pitchFamily="18" charset="0"/>
              <a:sym typeface="Times New Roman"/>
            </a:endParaRPr>
          </a:p>
        </p:txBody>
      </p:sp>
      <p:sp>
        <p:nvSpPr>
          <p:cNvPr id="5" name="TextBox 4">
            <a:extLst>
              <a:ext uri="{FF2B5EF4-FFF2-40B4-BE49-F238E27FC236}">
                <a16:creationId xmlns:a16="http://schemas.microsoft.com/office/drawing/2014/main" id="{C7E30361-6668-F7DA-CC91-9BC3C016D009}"/>
              </a:ext>
            </a:extLst>
          </p:cNvPr>
          <p:cNvSpPr txBox="1"/>
          <p:nvPr/>
        </p:nvSpPr>
        <p:spPr>
          <a:xfrm>
            <a:off x="2581738" y="3126829"/>
            <a:ext cx="7709483" cy="923330"/>
          </a:xfrm>
          <a:prstGeom prst="rect">
            <a:avLst/>
          </a:prstGeom>
          <a:noFill/>
        </p:spPr>
        <p:txBody>
          <a:bodyPr wrap="square" rtlCol="0">
            <a:spAutoFit/>
          </a:bodyPr>
          <a:lstStyle/>
          <a:p>
            <a:r>
              <a:rPr lang="en-GB" dirty="0">
                <a:solidFill>
                  <a:srgbClr val="C00000"/>
                </a:solidFill>
                <a:latin typeface="Times New Roman" panose="02020603050405020304" pitchFamily="18" charset="0"/>
                <a:cs typeface="Times New Roman" panose="02020603050405020304" pitchFamily="18" charset="0"/>
              </a:rPr>
              <a:t>Co Authors</a:t>
            </a:r>
            <a:r>
              <a:rPr lang="en-GB" dirty="0"/>
              <a:t>: </a:t>
            </a:r>
            <a:r>
              <a:rPr lang="en-GB" dirty="0" err="1">
                <a:solidFill>
                  <a:schemeClr val="tx2"/>
                </a:solidFill>
              </a:rPr>
              <a:t>Sourabh</a:t>
            </a:r>
            <a:r>
              <a:rPr lang="en-GB" dirty="0">
                <a:solidFill>
                  <a:schemeClr val="tx2"/>
                </a:solidFill>
              </a:rPr>
              <a:t> Khambra</a:t>
            </a:r>
            <a:r>
              <a:rPr lang="en-GB" baseline="30000" dirty="0">
                <a:solidFill>
                  <a:schemeClr val="tx2"/>
                </a:solidFill>
              </a:rPr>
              <a:t>2,3</a:t>
            </a:r>
            <a:r>
              <a:rPr lang="en-GB" dirty="0">
                <a:solidFill>
                  <a:schemeClr val="tx2"/>
                </a:solidFill>
              </a:rPr>
              <a:t>, </a:t>
            </a:r>
            <a:r>
              <a:rPr lang="en-US" dirty="0">
                <a:solidFill>
                  <a:schemeClr val="tx2"/>
                </a:solidFill>
              </a:rPr>
              <a:t>Arundhati Sahoo</a:t>
            </a:r>
            <a:r>
              <a:rPr lang="en-GB" baseline="30000" dirty="0">
                <a:solidFill>
                  <a:schemeClr val="tx2"/>
                </a:solidFill>
              </a:rPr>
              <a:t> 1</a:t>
            </a:r>
            <a:r>
              <a:rPr lang="en-GB" dirty="0">
                <a:solidFill>
                  <a:schemeClr val="tx2"/>
                </a:solidFill>
              </a:rPr>
              <a:t>, </a:t>
            </a:r>
            <a:r>
              <a:rPr lang="en-IN" dirty="0">
                <a:solidFill>
                  <a:schemeClr val="tx2"/>
                </a:solidFill>
              </a:rPr>
              <a:t>Sharanya</a:t>
            </a:r>
            <a:r>
              <a:rPr lang="en-US" dirty="0">
                <a:solidFill>
                  <a:schemeClr val="tx2"/>
                </a:solidFill>
              </a:rPr>
              <a:t> Bhaumik </a:t>
            </a:r>
            <a:r>
              <a:rPr lang="en-IN" baseline="30000" dirty="0">
                <a:solidFill>
                  <a:schemeClr val="tx2"/>
                </a:solidFill>
              </a:rPr>
              <a:t>1</a:t>
            </a:r>
            <a:r>
              <a:rPr lang="en-GB" dirty="0">
                <a:solidFill>
                  <a:schemeClr val="tx2"/>
                </a:solidFill>
              </a:rPr>
              <a:t>,</a:t>
            </a:r>
            <a:r>
              <a:rPr lang="en-GB" baseline="30000" dirty="0">
                <a:solidFill>
                  <a:schemeClr val="tx2"/>
                </a:solidFill>
              </a:rPr>
              <a:t> </a:t>
            </a:r>
            <a:r>
              <a:rPr lang="en-GB" dirty="0">
                <a:solidFill>
                  <a:schemeClr val="tx2"/>
                </a:solidFill>
              </a:rPr>
              <a:t>Dipankar Chatterjee</a:t>
            </a:r>
            <a:r>
              <a:rPr lang="en-GB" baseline="30000" dirty="0">
                <a:solidFill>
                  <a:schemeClr val="tx2"/>
                </a:solidFill>
              </a:rPr>
              <a:t>2,3</a:t>
            </a:r>
            <a:r>
              <a:rPr lang="en-GB" dirty="0">
                <a:solidFill>
                  <a:schemeClr val="tx2"/>
                </a:solidFill>
              </a:rPr>
              <a:t>, Ranjit Ray</a:t>
            </a:r>
            <a:r>
              <a:rPr lang="en-GB" baseline="30000" dirty="0">
                <a:solidFill>
                  <a:schemeClr val="tx2"/>
                </a:solidFill>
              </a:rPr>
              <a:t>2,3</a:t>
            </a:r>
            <a:endParaRPr lang="en-IN" dirty="0">
              <a:solidFill>
                <a:schemeClr val="tx2"/>
              </a:solidFill>
            </a:endParaRPr>
          </a:p>
          <a:p>
            <a:endParaRPr lang="en-IN" dirty="0"/>
          </a:p>
        </p:txBody>
      </p:sp>
    </p:spTree>
    <p:extLst>
      <p:ext uri="{BB962C8B-B14F-4D97-AF65-F5344CB8AC3E}">
        <p14:creationId xmlns:p14="http://schemas.microsoft.com/office/powerpoint/2010/main" val="252400978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CEA79CA-4783-035F-F5EA-0A695961E86A}"/>
              </a:ext>
            </a:extLst>
          </p:cNvPr>
          <p:cNvSpPr>
            <a:spLocks noGrp="1"/>
          </p:cNvSpPr>
          <p:nvPr>
            <p:ph type="sldNum" sz="quarter" idx="10"/>
          </p:nvPr>
        </p:nvSpPr>
        <p:spPr/>
        <p:txBody>
          <a:bodyPr/>
          <a:lstStyle/>
          <a:p>
            <a:fld id="{98045765-9D82-4A4A-9458-B21A2E924861}" type="slidenum">
              <a:rPr lang="en-US" smtClean="0"/>
              <a:t>2</a:t>
            </a:fld>
            <a:endParaRPr lang="en-US"/>
          </a:p>
        </p:txBody>
      </p:sp>
      <p:sp>
        <p:nvSpPr>
          <p:cNvPr id="4" name="Title 1">
            <a:extLst>
              <a:ext uri="{FF2B5EF4-FFF2-40B4-BE49-F238E27FC236}">
                <a16:creationId xmlns:a16="http://schemas.microsoft.com/office/drawing/2014/main" id="{96AE50A7-ABDE-9AD9-4355-61DD6EC289AC}"/>
              </a:ext>
            </a:extLst>
          </p:cNvPr>
          <p:cNvSpPr>
            <a:spLocks noGrp="1"/>
          </p:cNvSpPr>
          <p:nvPr>
            <p:ph type="title"/>
          </p:nvPr>
        </p:nvSpPr>
        <p:spPr>
          <a:xfrm>
            <a:off x="838200" y="0"/>
            <a:ext cx="10515600" cy="804913"/>
          </a:xfrm>
        </p:spPr>
        <p:txBody>
          <a:bodyPr>
            <a:normAutofit/>
          </a:bodyPr>
          <a:lstStyle/>
          <a:p>
            <a:pPr algn="ctr"/>
            <a:r>
              <a:rPr lang="en-IN" sz="3600" b="1" dirty="0">
                <a:latin typeface="Times New Roman" panose="02020603050405020304" pitchFamily="18" charset="0"/>
                <a:cs typeface="Times New Roman" panose="02020603050405020304" pitchFamily="18" charset="0"/>
              </a:rPr>
              <a:t>Motivation</a:t>
            </a:r>
          </a:p>
        </p:txBody>
      </p:sp>
      <p:sp>
        <p:nvSpPr>
          <p:cNvPr id="5" name="TextBox 4">
            <a:extLst>
              <a:ext uri="{FF2B5EF4-FFF2-40B4-BE49-F238E27FC236}">
                <a16:creationId xmlns:a16="http://schemas.microsoft.com/office/drawing/2014/main" id="{301BCA5F-1352-E040-0FE4-ECA8545182F1}"/>
              </a:ext>
            </a:extLst>
          </p:cNvPr>
          <p:cNvSpPr txBox="1"/>
          <p:nvPr/>
        </p:nvSpPr>
        <p:spPr>
          <a:xfrm>
            <a:off x="2185186" y="804913"/>
            <a:ext cx="7821628" cy="1477328"/>
          </a:xfrm>
          <a:prstGeom prst="rect">
            <a:avLst/>
          </a:prstGeom>
          <a:noFill/>
        </p:spPr>
        <p:txBody>
          <a:bodyPr wrap="none" rtlCol="0">
            <a:spAutoFit/>
          </a:bodyPr>
          <a:lstStyle/>
          <a:p>
            <a:pPr marL="285750" indent="-285750">
              <a:buFont typeface="Arial" panose="020B0604020202020204" pitchFamily="34" charset="0"/>
              <a:buChar char="•"/>
            </a:pPr>
            <a:r>
              <a:rPr lang="en-US" dirty="0"/>
              <a:t>How flow around bluff bodies impacts drag, heat transfer &amp; structural integrity</a:t>
            </a:r>
          </a:p>
          <a:p>
            <a:pPr marL="285750" indent="-285750">
              <a:buFont typeface="Arial" panose="020B0604020202020204" pitchFamily="34" charset="0"/>
              <a:buChar char="•"/>
            </a:pPr>
            <a:r>
              <a:rPr lang="en-US" dirty="0"/>
              <a:t>Magnetic fields can suppress instabilities &amp; control flow separation</a:t>
            </a:r>
          </a:p>
          <a:p>
            <a:pPr marL="285750" indent="-285750">
              <a:buFont typeface="Arial" panose="020B0604020202020204" pitchFamily="34" charset="0"/>
              <a:buChar char="•"/>
            </a:pPr>
            <a:r>
              <a:rPr lang="en-US" dirty="0"/>
              <a:t>Relevant in metallurgy, cooling systems &amp; nuclear reactors , aerospace </a:t>
            </a:r>
          </a:p>
          <a:p>
            <a:pPr marL="285750" indent="-285750">
              <a:buFont typeface="Arial" panose="020B0604020202020204" pitchFamily="34" charset="0"/>
              <a:buChar char="•"/>
            </a:pPr>
            <a:r>
              <a:rPr lang="en-US" dirty="0"/>
              <a:t>Key Question: How does a magnetic field reshape flow patterns?</a:t>
            </a:r>
          </a:p>
          <a:p>
            <a:pPr marL="285750" indent="-285750">
              <a:buFont typeface="Arial" panose="020B0604020202020204" pitchFamily="34" charset="0"/>
              <a:buChar char="•"/>
            </a:pPr>
            <a:endParaRPr lang="en-IN" dirty="0"/>
          </a:p>
        </p:txBody>
      </p:sp>
      <p:pic>
        <p:nvPicPr>
          <p:cNvPr id="10" name="Picture 9">
            <a:extLst>
              <a:ext uri="{FF2B5EF4-FFF2-40B4-BE49-F238E27FC236}">
                <a16:creationId xmlns:a16="http://schemas.microsoft.com/office/drawing/2014/main" id="{076B144B-D80C-26A3-24D5-B55D74E05A80}"/>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931333" y="2336802"/>
            <a:ext cx="10600267" cy="3087550"/>
          </a:xfrm>
          <a:prstGeom prst="rect">
            <a:avLst/>
          </a:prstGeom>
        </p:spPr>
      </p:pic>
      <p:sp>
        <p:nvSpPr>
          <p:cNvPr id="13" name="TextBox 12">
            <a:extLst>
              <a:ext uri="{FF2B5EF4-FFF2-40B4-BE49-F238E27FC236}">
                <a16:creationId xmlns:a16="http://schemas.microsoft.com/office/drawing/2014/main" id="{2A4E3DB2-3B4F-C123-F176-D73CB04DCEA3}"/>
              </a:ext>
            </a:extLst>
          </p:cNvPr>
          <p:cNvSpPr txBox="1"/>
          <p:nvPr/>
        </p:nvSpPr>
        <p:spPr>
          <a:xfrm>
            <a:off x="2946400" y="5478913"/>
            <a:ext cx="10244667" cy="461665"/>
          </a:xfrm>
          <a:prstGeom prst="rect">
            <a:avLst/>
          </a:prstGeom>
          <a:noFill/>
        </p:spPr>
        <p:txBody>
          <a:bodyPr wrap="square" rtlCol="0">
            <a:spAutoFit/>
          </a:bodyPr>
          <a:lstStyle/>
          <a:p>
            <a:r>
              <a:rPr lang="en-IN" sz="1200" dirty="0"/>
              <a:t>Source:</a:t>
            </a:r>
            <a:r>
              <a:rPr lang="en-US" sz="1200" b="1" i="1" dirty="0"/>
              <a:t>FLUID MECHANICS:  Fundamentals and Applications </a:t>
            </a:r>
            <a:r>
              <a:rPr lang="en-US" sz="1200" dirty="0"/>
              <a:t>by Yunus A. </a:t>
            </a:r>
            <a:r>
              <a:rPr lang="en-US" sz="1200" dirty="0" err="1"/>
              <a:t>Cengel</a:t>
            </a:r>
            <a:r>
              <a:rPr lang="en-US" sz="1200" dirty="0"/>
              <a:t> and John M. </a:t>
            </a:r>
            <a:r>
              <a:rPr lang="en-US" sz="1200" dirty="0" err="1"/>
              <a:t>Cimbala</a:t>
            </a:r>
            <a:endParaRPr lang="en-US" sz="1200" dirty="0"/>
          </a:p>
          <a:p>
            <a:endParaRPr lang="en-IN" sz="1200" dirty="0"/>
          </a:p>
        </p:txBody>
      </p:sp>
      <p:cxnSp>
        <p:nvCxnSpPr>
          <p:cNvPr id="6" name="Straight Connector 5"/>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02875026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977725D-65EB-3DC9-C4EF-2674440AB7EB}"/>
              </a:ext>
            </a:extLst>
          </p:cNvPr>
          <p:cNvSpPr>
            <a:spLocks noGrp="1"/>
          </p:cNvSpPr>
          <p:nvPr>
            <p:ph type="title"/>
          </p:nvPr>
        </p:nvSpPr>
        <p:spPr>
          <a:xfrm>
            <a:off x="838200" y="85207"/>
            <a:ext cx="10515600" cy="726556"/>
          </a:xfrm>
        </p:spPr>
        <p:txBody>
          <a:bodyPr>
            <a:normAutofit/>
          </a:bodyPr>
          <a:lstStyle/>
          <a:p>
            <a:pPr algn="ctr"/>
            <a:r>
              <a:rPr lang="en-IN" sz="3600" b="1" dirty="0">
                <a:latin typeface="Times New Roman" panose="02020603050405020304" pitchFamily="18" charset="0"/>
                <a:cs typeface="Times New Roman" panose="02020603050405020304" pitchFamily="18" charset="0"/>
              </a:rPr>
              <a:t>Background &amp; References</a:t>
            </a:r>
          </a:p>
        </p:txBody>
      </p:sp>
      <p:sp>
        <p:nvSpPr>
          <p:cNvPr id="3" name="Slide Number Placeholder 2">
            <a:extLst>
              <a:ext uri="{FF2B5EF4-FFF2-40B4-BE49-F238E27FC236}">
                <a16:creationId xmlns:a16="http://schemas.microsoft.com/office/drawing/2014/main" id="{A4717A27-0C2B-88F9-6E52-6D618F5C8D71}"/>
              </a:ext>
            </a:extLst>
          </p:cNvPr>
          <p:cNvSpPr>
            <a:spLocks noGrp="1"/>
          </p:cNvSpPr>
          <p:nvPr>
            <p:ph type="sldNum" sz="quarter" idx="10"/>
          </p:nvPr>
        </p:nvSpPr>
        <p:spPr/>
        <p:txBody>
          <a:bodyPr/>
          <a:lstStyle/>
          <a:p>
            <a:fld id="{98045765-9D82-4A4A-9458-B21A2E924861}" type="slidenum">
              <a:rPr lang="en-US" smtClean="0"/>
              <a:t>3</a:t>
            </a:fld>
            <a:endParaRPr lang="en-US"/>
          </a:p>
        </p:txBody>
      </p:sp>
      <p:sp>
        <p:nvSpPr>
          <p:cNvPr id="4" name="TextBox 3">
            <a:extLst>
              <a:ext uri="{FF2B5EF4-FFF2-40B4-BE49-F238E27FC236}">
                <a16:creationId xmlns:a16="http://schemas.microsoft.com/office/drawing/2014/main" id="{6CB42BD7-09FC-00C5-2D5E-14FD2C2ADB39}"/>
              </a:ext>
            </a:extLst>
          </p:cNvPr>
          <p:cNvSpPr txBox="1"/>
          <p:nvPr/>
        </p:nvSpPr>
        <p:spPr>
          <a:xfrm>
            <a:off x="1501743" y="1186926"/>
            <a:ext cx="9412448" cy="5909310"/>
          </a:xfrm>
          <a:prstGeom prst="rect">
            <a:avLst/>
          </a:prstGeom>
          <a:noFill/>
        </p:spPr>
        <p:txBody>
          <a:bodyPr wrap="square" rtlCol="0">
            <a:spAutoFit/>
          </a:bodyPr>
          <a:lstStyle/>
          <a:p>
            <a:pPr marL="285750" indent="-285750">
              <a:buFont typeface="Arial" panose="020B0604020202020204" pitchFamily="34" charset="0"/>
              <a:buChar char="•"/>
            </a:pPr>
            <a:r>
              <a:rPr lang="en-US" dirty="0"/>
              <a:t>Kang (2003): Flow over two circular cylinders placed side-by-side at low Reynolds numbers and how spacing between cylinders influences vortex shedding, wake interaction, and stability.</a:t>
            </a:r>
          </a:p>
          <a:p>
            <a:endParaRPr lang="en-US" dirty="0"/>
          </a:p>
          <a:p>
            <a:pPr marL="285750" indent="-285750">
              <a:buFont typeface="Arial" panose="020B0604020202020204" pitchFamily="34" charset="0"/>
              <a:buChar char="•"/>
            </a:pPr>
            <a:r>
              <a:rPr lang="en-US" dirty="0"/>
              <a:t>Yoon et al. (2010): Laminar forced convection heat transfer around two rotating side-by-side cylinders and the role of cylinder rotation on heat transfer and flow stability.</a:t>
            </a:r>
          </a:p>
          <a:p>
            <a:endParaRPr lang="en-US" dirty="0"/>
          </a:p>
          <a:p>
            <a:pPr marL="285750" indent="-285750">
              <a:buFont typeface="Arial" panose="020B0604020202020204" pitchFamily="34" charset="0"/>
              <a:buChar char="•"/>
            </a:pPr>
            <a:r>
              <a:rPr lang="en-US" dirty="0"/>
              <a:t>Chatterjee et al. (2012): Control of flow separation around bluff obstacles using a transverse magnetic field.</a:t>
            </a:r>
          </a:p>
          <a:p>
            <a:endParaRPr lang="en-US" dirty="0"/>
          </a:p>
          <a:p>
            <a:pPr marL="285750" indent="-285750">
              <a:buFont typeface="Arial" panose="020B0604020202020204" pitchFamily="34" charset="0"/>
              <a:buChar char="•"/>
            </a:pPr>
            <a:r>
              <a:rPr lang="en-US" dirty="0"/>
              <a:t>Geberth et al. (1990): Theoretical analysis of MHD flow around a cylinder under crossed electric and magnetic fields.</a:t>
            </a:r>
          </a:p>
          <a:p>
            <a:endParaRPr lang="en-US" dirty="0"/>
          </a:p>
          <a:p>
            <a:r>
              <a:rPr lang="en-US" dirty="0"/>
              <a:t>→ Inspired this numerical investigation</a:t>
            </a:r>
          </a:p>
          <a:p>
            <a:endParaRPr lang="en-US" dirty="0"/>
          </a:p>
          <a:p>
            <a:endParaRPr lang="en-US" dirty="0"/>
          </a:p>
          <a:p>
            <a:endParaRPr lang="en-US" dirty="0"/>
          </a:p>
          <a:p>
            <a:endParaRPr lang="en-US" dirty="0"/>
          </a:p>
          <a:p>
            <a:endParaRPr lang="en-US" dirty="0"/>
          </a:p>
          <a:p>
            <a:endParaRPr lang="en-US" dirty="0"/>
          </a:p>
          <a:p>
            <a:endParaRPr lang="en-US" dirty="0"/>
          </a:p>
          <a:p>
            <a:pPr marL="285750" indent="-285750">
              <a:buFont typeface="Arial" panose="020B0604020202020204" pitchFamily="34" charset="0"/>
              <a:buChar char="•"/>
            </a:pPr>
            <a:endParaRPr lang="en-IN" dirty="0"/>
          </a:p>
        </p:txBody>
      </p:sp>
      <p:cxnSp>
        <p:nvCxnSpPr>
          <p:cNvPr id="5" name="Straight Connector 4"/>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54813655"/>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C57AA0-F9BF-2A96-32F1-DF4FDC46AB59}"/>
              </a:ext>
            </a:extLst>
          </p:cNvPr>
          <p:cNvSpPr>
            <a:spLocks noGrp="1"/>
          </p:cNvSpPr>
          <p:nvPr>
            <p:ph type="title"/>
          </p:nvPr>
        </p:nvSpPr>
        <p:spPr>
          <a:xfrm>
            <a:off x="838199" y="72486"/>
            <a:ext cx="10515600" cy="633251"/>
          </a:xfrm>
        </p:spPr>
        <p:txBody>
          <a:bodyPr>
            <a:normAutofit/>
          </a:bodyPr>
          <a:lstStyle/>
          <a:p>
            <a:pPr algn="ctr"/>
            <a:r>
              <a:rPr lang="en-IN" sz="3600" b="1" dirty="0">
                <a:latin typeface="Times New Roman" panose="02020603050405020304" pitchFamily="18" charset="0"/>
                <a:cs typeface="Times New Roman" panose="02020603050405020304" pitchFamily="18" charset="0"/>
              </a:rPr>
              <a:t>Problem Statement &amp; Objective</a:t>
            </a:r>
          </a:p>
        </p:txBody>
      </p:sp>
      <p:sp>
        <p:nvSpPr>
          <p:cNvPr id="3" name="Slide Number Placeholder 2">
            <a:extLst>
              <a:ext uri="{FF2B5EF4-FFF2-40B4-BE49-F238E27FC236}">
                <a16:creationId xmlns:a16="http://schemas.microsoft.com/office/drawing/2014/main" id="{B843782B-66F6-4142-A3A4-B526B6A81A65}"/>
              </a:ext>
            </a:extLst>
          </p:cNvPr>
          <p:cNvSpPr>
            <a:spLocks noGrp="1"/>
          </p:cNvSpPr>
          <p:nvPr>
            <p:ph type="sldNum" sz="quarter" idx="10"/>
          </p:nvPr>
        </p:nvSpPr>
        <p:spPr/>
        <p:txBody>
          <a:bodyPr/>
          <a:lstStyle/>
          <a:p>
            <a:fld id="{98045765-9D82-4A4A-9458-B21A2E924861}" type="slidenum">
              <a:rPr lang="en-US" smtClean="0"/>
              <a:t>4</a:t>
            </a:fld>
            <a:endParaRPr lang="en-US"/>
          </a:p>
        </p:txBody>
      </p:sp>
      <p:sp>
        <p:nvSpPr>
          <p:cNvPr id="4" name="TextBox 3">
            <a:extLst>
              <a:ext uri="{FF2B5EF4-FFF2-40B4-BE49-F238E27FC236}">
                <a16:creationId xmlns:a16="http://schemas.microsoft.com/office/drawing/2014/main" id="{DD50E9FF-248E-AA5C-CB25-9A8D8CFAE61C}"/>
              </a:ext>
            </a:extLst>
          </p:cNvPr>
          <p:cNvSpPr txBox="1"/>
          <p:nvPr/>
        </p:nvSpPr>
        <p:spPr>
          <a:xfrm>
            <a:off x="1930923" y="1245991"/>
            <a:ext cx="7466202" cy="1477328"/>
          </a:xfrm>
          <a:prstGeom prst="rect">
            <a:avLst/>
          </a:prstGeom>
          <a:noFill/>
        </p:spPr>
        <p:txBody>
          <a:bodyPr wrap="square" rtlCol="0">
            <a:spAutoFit/>
          </a:bodyPr>
          <a:lstStyle/>
          <a:p>
            <a:pPr marL="285750" indent="-285750">
              <a:buFont typeface="Arial" panose="020B0604020202020204" pitchFamily="34" charset="0"/>
              <a:buChar char="•"/>
            </a:pPr>
            <a:r>
              <a:rPr lang="en-IN" dirty="0"/>
              <a:t>2D MHD flow &amp; heat transfer around a stationary cylinder</a:t>
            </a:r>
          </a:p>
          <a:p>
            <a:pPr marL="285750" indent="-285750">
              <a:buFont typeface="Arial" panose="020B0604020202020204" pitchFamily="34" charset="0"/>
              <a:buChar char="•"/>
            </a:pPr>
            <a:r>
              <a:rPr lang="en-IN" dirty="0"/>
              <a:t>Re = 1,000, 10,000, 100,000; Ha = 0–200 (extended to 500 for Re 100,000)</a:t>
            </a:r>
          </a:p>
          <a:p>
            <a:pPr marL="285750" indent="-285750">
              <a:buFont typeface="Arial" panose="020B0604020202020204" pitchFamily="34" charset="0"/>
              <a:buChar char="•"/>
            </a:pPr>
            <a:r>
              <a:rPr lang="en-IN" dirty="0"/>
              <a:t>Analyse Nu, Cp, Cd, Cl, vortex shedding &amp; wake dynamics</a:t>
            </a:r>
          </a:p>
          <a:p>
            <a:pPr marL="285750" indent="-285750">
              <a:buFont typeface="Arial" panose="020B0604020202020204" pitchFamily="34" charset="0"/>
              <a:buChar char="•"/>
            </a:pPr>
            <a:r>
              <a:rPr lang="en-IN" dirty="0"/>
              <a:t>Assess influence of transverse magnetic fields</a:t>
            </a:r>
          </a:p>
          <a:p>
            <a:pPr marL="285750" indent="-285750">
              <a:buFont typeface="Arial" panose="020B0604020202020204" pitchFamily="34" charset="0"/>
              <a:buChar char="•"/>
            </a:pPr>
            <a:endParaRPr lang="en-IN" dirty="0"/>
          </a:p>
        </p:txBody>
      </p:sp>
      <p:pic>
        <p:nvPicPr>
          <p:cNvPr id="5" name="Picture 4">
            <a:extLst>
              <a:ext uri="{FF2B5EF4-FFF2-40B4-BE49-F238E27FC236}">
                <a16:creationId xmlns:a16="http://schemas.microsoft.com/office/drawing/2014/main" id="{E6ACB397-1DFA-EF6D-3EC0-5A979CB6B799}"/>
              </a:ext>
            </a:extLst>
          </p:cNvPr>
          <p:cNvPicPr>
            <a:picLocks noChangeAspect="1"/>
          </p:cNvPicPr>
          <p:nvPr/>
        </p:nvPicPr>
        <p:blipFill rotWithShape="1">
          <a:blip r:embed="rId2"/>
          <a:srcRect l="3673" r="1637"/>
          <a:stretch>
            <a:fillRect/>
          </a:stretch>
        </p:blipFill>
        <p:spPr bwMode="auto">
          <a:xfrm>
            <a:off x="3671422" y="2645228"/>
            <a:ext cx="4283784" cy="2828837"/>
          </a:xfrm>
          <a:prstGeom prst="rect">
            <a:avLst/>
          </a:prstGeom>
          <a:ln w="12700">
            <a:solidFill>
              <a:schemeClr val="tx1"/>
            </a:solidFill>
          </a:ln>
          <a:extLst>
            <a:ext uri="{53640926-AAD7-44D8-BBD7-CCE9431645EC}">
              <a14:shadowObscured xmlns:a14="http://schemas.microsoft.com/office/drawing/2010/main"/>
            </a:ext>
          </a:extLst>
        </p:spPr>
      </p:pic>
      <p:cxnSp>
        <p:nvCxnSpPr>
          <p:cNvPr id="6" name="Straight Connector 5"/>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7" name="TextBox 6"/>
          <p:cNvSpPr txBox="1"/>
          <p:nvPr/>
        </p:nvSpPr>
        <p:spPr>
          <a:xfrm>
            <a:off x="4655976" y="5561046"/>
            <a:ext cx="2512226" cy="369332"/>
          </a:xfrm>
          <a:prstGeom prst="rect">
            <a:avLst/>
          </a:prstGeom>
          <a:noFill/>
        </p:spPr>
        <p:txBody>
          <a:bodyPr wrap="none" rtlCol="0">
            <a:spAutoFit/>
          </a:bodyPr>
          <a:lstStyle/>
          <a:p>
            <a:r>
              <a:rPr lang="en-US" b="1" dirty="0">
                <a:solidFill>
                  <a:schemeClr val="accent2">
                    <a:lumMod val="75000"/>
                  </a:schemeClr>
                </a:solidFill>
                <a:latin typeface="Times New Roman" panose="02020603050405020304" pitchFamily="18" charset="0"/>
                <a:cs typeface="Times New Roman" panose="02020603050405020304" pitchFamily="18" charset="0"/>
              </a:rPr>
              <a:t>Computational Domain</a:t>
            </a:r>
          </a:p>
        </p:txBody>
      </p:sp>
    </p:spTree>
    <p:extLst>
      <p:ext uri="{BB962C8B-B14F-4D97-AF65-F5344CB8AC3E}">
        <p14:creationId xmlns:p14="http://schemas.microsoft.com/office/powerpoint/2010/main" val="8602985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935B53-58B2-D074-EEEF-C9BC34C0BA23}"/>
              </a:ext>
            </a:extLst>
          </p:cNvPr>
          <p:cNvSpPr>
            <a:spLocks noGrp="1"/>
          </p:cNvSpPr>
          <p:nvPr>
            <p:ph type="title"/>
          </p:nvPr>
        </p:nvSpPr>
        <p:spPr>
          <a:xfrm>
            <a:off x="991997" y="91457"/>
            <a:ext cx="10515600" cy="567936"/>
          </a:xfrm>
        </p:spPr>
        <p:txBody>
          <a:bodyPr>
            <a:normAutofit fontScale="90000"/>
          </a:bodyPr>
          <a:lstStyle/>
          <a:p>
            <a:pPr algn="ctr"/>
            <a:r>
              <a:rPr lang="en-IN" sz="3600" b="1" dirty="0">
                <a:latin typeface="Times New Roman" panose="02020603050405020304" pitchFamily="18" charset="0"/>
                <a:cs typeface="Times New Roman" panose="02020603050405020304" pitchFamily="18" charset="0"/>
              </a:rPr>
              <a:t>Physical Model &amp; Governing Equations</a:t>
            </a:r>
          </a:p>
        </p:txBody>
      </p:sp>
      <p:sp>
        <p:nvSpPr>
          <p:cNvPr id="3" name="Slide Number Placeholder 2">
            <a:extLst>
              <a:ext uri="{FF2B5EF4-FFF2-40B4-BE49-F238E27FC236}">
                <a16:creationId xmlns:a16="http://schemas.microsoft.com/office/drawing/2014/main" id="{FB987731-7D39-50F2-FE28-164CEB0008AC}"/>
              </a:ext>
            </a:extLst>
          </p:cNvPr>
          <p:cNvSpPr>
            <a:spLocks noGrp="1"/>
          </p:cNvSpPr>
          <p:nvPr>
            <p:ph type="sldNum" sz="quarter" idx="10"/>
          </p:nvPr>
        </p:nvSpPr>
        <p:spPr/>
        <p:txBody>
          <a:bodyPr/>
          <a:lstStyle/>
          <a:p>
            <a:fld id="{98045765-9D82-4A4A-9458-B21A2E924861}" type="slidenum">
              <a:rPr lang="en-US" smtClean="0"/>
              <a:t>5</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E480A8E-8695-B157-B7F7-795F6C9140E3}"/>
                  </a:ext>
                </a:extLst>
              </p:cNvPr>
              <p:cNvSpPr txBox="1"/>
              <p:nvPr/>
            </p:nvSpPr>
            <p:spPr>
              <a:xfrm>
                <a:off x="1887521" y="1028214"/>
                <a:ext cx="8724551" cy="4904997"/>
              </a:xfrm>
              <a:prstGeom prst="rect">
                <a:avLst/>
              </a:prstGeom>
              <a:noFill/>
            </p:spPr>
            <p:txBody>
              <a:bodyPr wrap="square" rtlCol="0">
                <a:spAutoFit/>
              </a:bodyPr>
              <a:lstStyle/>
              <a:p>
                <a:pPr marL="285750" indent="-285750">
                  <a:buFont typeface="Arial" panose="020B0604020202020204" pitchFamily="34" charset="0"/>
                  <a:buChar char="•"/>
                </a:pPr>
                <a:r>
                  <a:rPr lang="en-IN" dirty="0"/>
                  <a:t>Circular cylinder of diameter D in a circular domain of diameter 50D</a:t>
                </a:r>
              </a:p>
              <a:p>
                <a:pPr marL="285750" indent="-285750">
                  <a:buFont typeface="Arial" panose="020B0604020202020204" pitchFamily="34" charset="0"/>
                  <a:buChar char="•"/>
                </a:pPr>
                <a:r>
                  <a:rPr lang="en-IN" dirty="0"/>
                  <a:t>Uniform transverse magnetic field</a:t>
                </a:r>
              </a:p>
              <a:p>
                <a:pPr marL="285750" indent="-285750">
                  <a:buFont typeface="Arial" panose="020B0604020202020204" pitchFamily="34" charset="0"/>
                  <a:buChar char="•"/>
                </a:pPr>
                <a:r>
                  <a:rPr lang="en-IN" dirty="0"/>
                  <a:t>The flow is two-dimensional, incompressible and turbulent with electrically conductive and Newtonian fluid.</a:t>
                </a:r>
              </a:p>
              <a:p>
                <a:pPr marL="285750" indent="-285750">
                  <a:buFont typeface="Arial" panose="020B0604020202020204" pitchFamily="34" charset="0"/>
                  <a:buChar char="•"/>
                </a:pPr>
                <a:r>
                  <a:rPr lang="en-IN" dirty="0"/>
                  <a:t>Governing equations:</a:t>
                </a:r>
              </a:p>
              <a:p>
                <a:r>
                  <a:rPr lang="en-IN" dirty="0"/>
                  <a:t>	</a:t>
                </a:r>
                <a:r>
                  <a:rPr lang="en-IN" sz="1600" dirty="0"/>
                  <a:t>1) Continuity Equation (Mass Conservation)</a:t>
                </a:r>
              </a:p>
              <a:p>
                <a:pPr/>
                <a14:m>
                  <m:oMathPara xmlns:m="http://schemas.openxmlformats.org/officeDocument/2006/math">
                    <m:oMathParaPr>
                      <m:jc m:val="centerGroup"/>
                    </m:oMathParaPr>
                    <m:oMath xmlns:m="http://schemas.openxmlformats.org/officeDocument/2006/math">
                      <m:r>
                        <a:rPr lang="en-IN" sz="1600" b="0" i="1" smtClean="0">
                          <a:latin typeface="Cambria Math" panose="02040503050406030204" pitchFamily="18" charset="0"/>
                        </a:rPr>
                        <m:t>𝛻</m:t>
                      </m:r>
                      <m:r>
                        <a:rPr lang="en-IN" sz="1600" b="0" smtClean="0">
                          <a:latin typeface="Cambria Math" panose="02040503050406030204" pitchFamily="18" charset="0"/>
                        </a:rPr>
                        <m:t>⋅</m:t>
                      </m:r>
                      <m:r>
                        <m:rPr>
                          <m:sty m:val="p"/>
                        </m:rPr>
                        <a:rPr lang="en-IN" sz="1600" b="0" i="1">
                          <a:latin typeface="Cambria Math" panose="02040503050406030204" pitchFamily="18" charset="0"/>
                        </a:rPr>
                        <m:t>u</m:t>
                      </m:r>
                      <m:r>
                        <a:rPr lang="en-IN" sz="1600" b="0">
                          <a:latin typeface="Cambria Math" panose="02040503050406030204" pitchFamily="18" charset="0"/>
                        </a:rPr>
                        <m:t>=</m:t>
                      </m:r>
                      <m:r>
                        <a:rPr lang="en-IN" sz="1600" b="0" i="1" smtClean="0">
                          <a:latin typeface="Cambria Math" panose="02040503050406030204" pitchFamily="18" charset="0"/>
                        </a:rPr>
                        <m:t>0</m:t>
                      </m:r>
                    </m:oMath>
                  </m:oMathPara>
                </a14:m>
                <a:endParaRPr lang="en-IN" sz="1600" dirty="0"/>
              </a:p>
              <a:p>
                <a:r>
                  <a:rPr lang="en-IN" sz="1600" dirty="0"/>
                  <a:t>	2)Momentum Equation (Navier–Stokes with Lorentz Force)</a:t>
                </a:r>
              </a:p>
              <a:p>
                <a:pPr algn="ctr"/>
                <a14:m>
                  <m:oMath xmlns:m="http://schemas.openxmlformats.org/officeDocument/2006/math">
                    <m:d>
                      <m:dPr>
                        <m:ctrlPr>
                          <a:rPr lang="ar-AE" sz="1600" i="1">
                            <a:latin typeface="Cambria Math" panose="02040503050406030204" pitchFamily="18" charset="0"/>
                          </a:rPr>
                        </m:ctrlPr>
                      </m:dPr>
                      <m:e>
                        <m:r>
                          <m:rPr>
                            <m:sty m:val="p"/>
                          </m:rPr>
                          <a:rPr lang="ar-AE" sz="1600" b="0" i="1" smtClean="0">
                            <a:latin typeface="Cambria Math" panose="02040503050406030204" pitchFamily="18" charset="0"/>
                          </a:rPr>
                          <m:t>u</m:t>
                        </m:r>
                        <m:r>
                          <a:rPr lang="ar-AE" sz="1600" b="0" smtClean="0">
                            <a:latin typeface="Cambria Math" panose="02040503050406030204" pitchFamily="18" charset="0"/>
                          </a:rPr>
                          <m:t>⋅</m:t>
                        </m:r>
                        <m:r>
                          <a:rPr lang="ar-AE" sz="1600" b="0" i="1" smtClean="0">
                            <a:latin typeface="Cambria Math" panose="02040503050406030204" pitchFamily="18" charset="0"/>
                          </a:rPr>
                          <m:t>𝛻</m:t>
                        </m:r>
                      </m:e>
                    </m:d>
                    <m:r>
                      <m:rPr>
                        <m:sty m:val="p"/>
                      </m:rPr>
                      <a:rPr lang="ar-AE" sz="1600" b="0" i="1" smtClean="0">
                        <a:latin typeface="Cambria Math" panose="02040503050406030204" pitchFamily="18" charset="0"/>
                      </a:rPr>
                      <m:t>u</m:t>
                    </m:r>
                    <m:r>
                      <a:rPr lang="ar-AE" sz="1600" b="0" smtClean="0">
                        <a:latin typeface="Cambria Math" panose="02040503050406030204" pitchFamily="18" charset="0"/>
                      </a:rPr>
                      <m:t>=−</m:t>
                    </m:r>
                    <m:r>
                      <a:rPr lang="ar-AE" sz="1600" b="0" i="1" smtClean="0">
                        <a:latin typeface="Cambria Math" panose="02040503050406030204" pitchFamily="18" charset="0"/>
                      </a:rPr>
                      <m:t>𝛻</m:t>
                    </m:r>
                    <m:r>
                      <a:rPr lang="ar-AE" sz="1600" b="0" i="1" smtClean="0">
                        <a:latin typeface="Cambria Math" panose="02040503050406030204" pitchFamily="18" charset="0"/>
                      </a:rPr>
                      <m:t>𝑝</m:t>
                    </m:r>
                    <m:r>
                      <a:rPr lang="ar-AE" sz="1600" b="0" smtClean="0">
                        <a:latin typeface="Cambria Math" panose="02040503050406030204" pitchFamily="18" charset="0"/>
                      </a:rPr>
                      <m:t>+</m:t>
                    </m:r>
                    <m:f>
                      <m:fPr>
                        <m:ctrlPr>
                          <a:rPr lang="ar-AE" sz="1600" i="1">
                            <a:latin typeface="Cambria Math" panose="02040503050406030204" pitchFamily="18" charset="0"/>
                          </a:rPr>
                        </m:ctrlPr>
                      </m:fPr>
                      <m:num>
                        <m:r>
                          <a:rPr lang="ar-AE" sz="1600" b="0" i="1" smtClean="0">
                            <a:latin typeface="Cambria Math" panose="02040503050406030204" pitchFamily="18" charset="0"/>
                          </a:rPr>
                          <m:t>1</m:t>
                        </m:r>
                      </m:num>
                      <m:den>
                        <m:r>
                          <a:rPr lang="ar-AE" sz="1600" b="0" i="1" smtClean="0">
                            <a:latin typeface="Cambria Math" panose="02040503050406030204" pitchFamily="18" charset="0"/>
                          </a:rPr>
                          <m:t>𝑅𝑒</m:t>
                        </m:r>
                      </m:den>
                    </m:f>
                    <m:sSup>
                      <m:sSupPr>
                        <m:ctrlPr>
                          <a:rPr lang="ar-AE" sz="1600" i="1">
                            <a:latin typeface="Cambria Math" panose="02040503050406030204" pitchFamily="18" charset="0"/>
                          </a:rPr>
                        </m:ctrlPr>
                      </m:sSupPr>
                      <m:e>
                        <m:r>
                          <a:rPr lang="ar-AE" sz="1600" b="0" i="1" smtClean="0">
                            <a:latin typeface="Cambria Math" panose="02040503050406030204" pitchFamily="18" charset="0"/>
                          </a:rPr>
                          <m:t>𝛻</m:t>
                        </m:r>
                      </m:e>
                      <m:sup>
                        <m:r>
                          <a:rPr lang="ar-AE" sz="1600" b="0" i="1" smtClean="0">
                            <a:latin typeface="Cambria Math" panose="02040503050406030204" pitchFamily="18" charset="0"/>
                          </a:rPr>
                          <m:t>2</m:t>
                        </m:r>
                      </m:sup>
                    </m:sSup>
                    <m:r>
                      <m:rPr>
                        <m:sty m:val="p"/>
                      </m:rPr>
                      <a:rPr lang="ar-AE" sz="1600" b="0" i="1" smtClean="0">
                        <a:latin typeface="Cambria Math" panose="02040503050406030204" pitchFamily="18" charset="0"/>
                      </a:rPr>
                      <m:t>u</m:t>
                    </m:r>
                    <m:r>
                      <a:rPr lang="ar-AE" sz="1600" b="0" smtClean="0">
                        <a:latin typeface="Cambria Math" panose="02040503050406030204" pitchFamily="18" charset="0"/>
                      </a:rPr>
                      <m:t>+</m:t>
                    </m:r>
                    <m:sSub>
                      <m:sSubPr>
                        <m:ctrlPr>
                          <a:rPr lang="ar-AE" sz="1600" i="1">
                            <a:latin typeface="Cambria Math" panose="02040503050406030204" pitchFamily="18" charset="0"/>
                          </a:rPr>
                        </m:ctrlPr>
                      </m:sSubPr>
                      <m:e>
                        <m:r>
                          <m:rPr>
                            <m:sty m:val="p"/>
                          </m:rPr>
                          <a:rPr lang="ar-AE" sz="1600" b="0" i="1" smtClean="0">
                            <a:latin typeface="Cambria Math" panose="02040503050406030204" pitchFamily="18" charset="0"/>
                          </a:rPr>
                          <m:t>F</m:t>
                        </m:r>
                      </m:e>
                      <m:sub>
                        <m:r>
                          <a:rPr lang="ar-AE" sz="1600" b="0" i="1" smtClean="0">
                            <a:latin typeface="Cambria Math" panose="02040503050406030204" pitchFamily="18" charset="0"/>
                          </a:rPr>
                          <m:t>𝐿</m:t>
                        </m:r>
                      </m:sub>
                    </m:sSub>
                  </m:oMath>
                </a14:m>
                <a:r>
                  <a:rPr lang="en-IN" sz="1600" dirty="0"/>
                  <a:t>                     </a:t>
                </a:r>
              </a:p>
              <a:p>
                <a:pPr algn="ctr"/>
                <a:r>
                  <a:rPr lang="en-IN" sz="1600" dirty="0"/>
                  <a:t>                                                                                            [</a:t>
                </a:r>
                <a:r>
                  <a:rPr lang="en-US" sz="1600" dirty="0"/>
                  <a:t>Where :</a:t>
                </a:r>
                <a:r>
                  <a:rPr lang="en-US" dirty="0"/>
                  <a:t> </a:t>
                </a:r>
                <a:r>
                  <a:rPr lang="en-IN" dirty="0"/>
                  <a:t>F</a:t>
                </a:r>
                <a:r>
                  <a:rPr lang="en-IN" baseline="-25000" dirty="0"/>
                  <a:t>L</a:t>
                </a:r>
                <a:r>
                  <a:rPr lang="en-IN" dirty="0"/>
                  <a:t> = N(j × B</a:t>
                </a:r>
                <a:r>
                  <a:rPr lang="en-IN" baseline="-25000" dirty="0"/>
                  <a:t>0</a:t>
                </a:r>
                <a:r>
                  <a:rPr lang="en-IN" dirty="0"/>
                  <a:t>) with N = Ha</a:t>
                </a:r>
                <a:r>
                  <a:rPr lang="en-IN" baseline="30000" dirty="0"/>
                  <a:t>2</a:t>
                </a:r>
                <a:r>
                  <a:rPr lang="en-IN" dirty="0"/>
                  <a:t>/Re</a:t>
                </a:r>
              </a:p>
              <a:p>
                <a:pPr algn="ctr"/>
                <a:r>
                  <a:rPr lang="en-IN" dirty="0"/>
                  <a:t>	                                             and                    ]</a:t>
                </a:r>
                <a:endParaRPr lang="en-IN" sz="1600" dirty="0"/>
              </a:p>
              <a:p>
                <a:r>
                  <a:rPr lang="en-IN" sz="1600" dirty="0"/>
                  <a:t>	3) Energy Equation (Heat Transfer Equation)</a:t>
                </a:r>
              </a:p>
              <a:p>
                <a:pPr/>
                <a14:m>
                  <m:oMathPara xmlns:m="http://schemas.openxmlformats.org/officeDocument/2006/math">
                    <m:oMathParaPr>
                      <m:jc m:val="centerGroup"/>
                    </m:oMathParaPr>
                    <m:oMath xmlns:m="http://schemas.openxmlformats.org/officeDocument/2006/math">
                      <m:d>
                        <m:dPr>
                          <m:ctrlPr>
                            <a:rPr lang="ar-AE" sz="1600" i="1">
                              <a:latin typeface="Cambria Math" panose="02040503050406030204" pitchFamily="18" charset="0"/>
                            </a:rPr>
                          </m:ctrlPr>
                        </m:dPr>
                        <m:e>
                          <m:r>
                            <m:rPr>
                              <m:sty m:val="p"/>
                            </m:rPr>
                            <a:rPr lang="ar-AE" sz="1600" b="0" i="1" smtClean="0">
                              <a:latin typeface="Cambria Math" panose="02040503050406030204" pitchFamily="18" charset="0"/>
                            </a:rPr>
                            <m:t>u</m:t>
                          </m:r>
                          <m:r>
                            <a:rPr lang="ar-AE" sz="1600" b="0" smtClean="0">
                              <a:latin typeface="Cambria Math" panose="02040503050406030204" pitchFamily="18" charset="0"/>
                            </a:rPr>
                            <m:t>⋅</m:t>
                          </m:r>
                          <m:r>
                            <a:rPr lang="ar-AE" sz="1600" b="0" i="1" smtClean="0">
                              <a:latin typeface="Cambria Math" panose="02040503050406030204" pitchFamily="18" charset="0"/>
                            </a:rPr>
                            <m:t>𝛻</m:t>
                          </m:r>
                        </m:e>
                      </m:d>
                      <m:r>
                        <a:rPr lang="ar-AE" sz="1600" b="0" i="1" smtClean="0">
                          <a:latin typeface="Cambria Math" panose="02040503050406030204" pitchFamily="18" charset="0"/>
                        </a:rPr>
                        <m:t>𝜃</m:t>
                      </m:r>
                      <m:r>
                        <a:rPr lang="ar-AE" sz="1600" b="0" smtClean="0">
                          <a:latin typeface="Cambria Math" panose="02040503050406030204" pitchFamily="18" charset="0"/>
                        </a:rPr>
                        <m:t>=</m:t>
                      </m:r>
                      <m:f>
                        <m:fPr>
                          <m:ctrlPr>
                            <a:rPr lang="ar-AE" sz="1600" i="1">
                              <a:latin typeface="Cambria Math" panose="02040503050406030204" pitchFamily="18" charset="0"/>
                            </a:rPr>
                          </m:ctrlPr>
                        </m:fPr>
                        <m:num>
                          <m:r>
                            <a:rPr lang="ar-AE" sz="1600" b="0" i="1" smtClean="0">
                              <a:latin typeface="Cambria Math" panose="02040503050406030204" pitchFamily="18" charset="0"/>
                            </a:rPr>
                            <m:t>1</m:t>
                          </m:r>
                        </m:num>
                        <m:den>
                          <m:r>
                            <a:rPr lang="ar-AE" sz="1600" b="0" i="1" smtClean="0">
                              <a:latin typeface="Cambria Math" panose="02040503050406030204" pitchFamily="18" charset="0"/>
                            </a:rPr>
                            <m:t>𝑅𝑒</m:t>
                          </m:r>
                          <m:r>
                            <m:rPr>
                              <m:nor/>
                            </m:rPr>
                            <a:rPr lang="ar-AE" sz="1600" i="1"/>
                            <m:t> </m:t>
                          </m:r>
                          <m:r>
                            <a:rPr lang="ar-AE" sz="1600" b="0" i="1" smtClean="0">
                              <a:latin typeface="Cambria Math" panose="02040503050406030204" pitchFamily="18" charset="0"/>
                            </a:rPr>
                            <m:t>𝑃𝑟</m:t>
                          </m:r>
                        </m:den>
                      </m:f>
                      <m:sSup>
                        <m:sSupPr>
                          <m:ctrlPr>
                            <a:rPr lang="ar-AE" sz="1600" i="1">
                              <a:latin typeface="Cambria Math" panose="02040503050406030204" pitchFamily="18" charset="0"/>
                            </a:rPr>
                          </m:ctrlPr>
                        </m:sSupPr>
                        <m:e>
                          <m:r>
                            <a:rPr lang="ar-AE" sz="1600" b="0" i="1" smtClean="0">
                              <a:latin typeface="Cambria Math" panose="02040503050406030204" pitchFamily="18" charset="0"/>
                            </a:rPr>
                            <m:t>𝛻</m:t>
                          </m:r>
                        </m:e>
                        <m:sup>
                          <m:r>
                            <a:rPr lang="ar-AE" sz="1600" b="0" i="1" smtClean="0">
                              <a:latin typeface="Cambria Math" panose="02040503050406030204" pitchFamily="18" charset="0"/>
                            </a:rPr>
                            <m:t>2</m:t>
                          </m:r>
                        </m:sup>
                      </m:sSup>
                      <m:r>
                        <a:rPr lang="ar-AE" sz="1600" b="0" i="1" smtClean="0">
                          <a:latin typeface="Cambria Math" panose="02040503050406030204" pitchFamily="18" charset="0"/>
                        </a:rPr>
                        <m:t>𝜃</m:t>
                      </m:r>
                    </m:oMath>
                  </m:oMathPara>
                </a14:m>
                <a:endParaRPr lang="ar-AE" sz="1600" dirty="0"/>
              </a:p>
              <a:p>
                <a:r>
                  <a:rPr lang="en-IN" sz="1600" dirty="0"/>
                  <a:t>	4)</a:t>
                </a:r>
                <a:r>
                  <a:rPr lang="fr-FR" sz="1600" dirty="0"/>
                  <a:t> Charge Conservation</a:t>
                </a:r>
              </a:p>
              <a:p>
                <a:pPr/>
                <a14:m>
                  <m:oMathPara xmlns:m="http://schemas.openxmlformats.org/officeDocument/2006/math">
                    <m:oMathParaPr>
                      <m:jc m:val="centerGroup"/>
                    </m:oMathParaPr>
                    <m:oMath xmlns:m="http://schemas.openxmlformats.org/officeDocument/2006/math">
                      <m:r>
                        <a:rPr lang="fr-FR" sz="1600" b="0" i="1" smtClean="0">
                          <a:latin typeface="Cambria Math" panose="02040503050406030204" pitchFamily="18" charset="0"/>
                        </a:rPr>
                        <m:t>𝛻</m:t>
                      </m:r>
                      <m:r>
                        <a:rPr lang="fr-FR" sz="1600" b="0" smtClean="0">
                          <a:latin typeface="Cambria Math" panose="02040503050406030204" pitchFamily="18" charset="0"/>
                        </a:rPr>
                        <m:t>⋅</m:t>
                      </m:r>
                      <m:r>
                        <m:rPr>
                          <m:sty m:val="p"/>
                        </m:rPr>
                        <a:rPr lang="fr-FR" sz="1600" b="0" i="1">
                          <a:latin typeface="Cambria Math" panose="02040503050406030204" pitchFamily="18" charset="0"/>
                        </a:rPr>
                        <m:t>j</m:t>
                      </m:r>
                      <m:r>
                        <a:rPr lang="fr-FR" sz="1600" b="0">
                          <a:latin typeface="Cambria Math" panose="02040503050406030204" pitchFamily="18" charset="0"/>
                        </a:rPr>
                        <m:t>=</m:t>
                      </m:r>
                      <m:r>
                        <a:rPr lang="fr-FR" sz="1600" b="0" i="1" smtClean="0">
                          <a:latin typeface="Cambria Math" panose="02040503050406030204" pitchFamily="18" charset="0"/>
                        </a:rPr>
                        <m:t>0</m:t>
                      </m:r>
                    </m:oMath>
                  </m:oMathPara>
                </a14:m>
                <a:endParaRPr lang="fr-FR" sz="1600" dirty="0"/>
              </a:p>
              <a:p>
                <a:endParaRPr lang="ar-AE" b="0" dirty="0"/>
              </a:p>
              <a:p>
                <a:endParaRPr lang="en-IN" dirty="0"/>
              </a:p>
            </p:txBody>
          </p:sp>
        </mc:Choice>
        <mc:Fallback xmlns="">
          <p:sp>
            <p:nvSpPr>
              <p:cNvPr id="4" name="TextBox 3">
                <a:extLst>
                  <a:ext uri="{FF2B5EF4-FFF2-40B4-BE49-F238E27FC236}">
                    <a16:creationId xmlns:a16="http://schemas.microsoft.com/office/drawing/2014/main" id="{BE480A8E-8695-B157-B7F7-795F6C9140E3}"/>
                  </a:ext>
                </a:extLst>
              </p:cNvPr>
              <p:cNvSpPr txBox="1">
                <a:spLocks noRot="1" noChangeAspect="1" noMove="1" noResize="1" noEditPoints="1" noAdjustHandles="1" noChangeArrowheads="1" noChangeShapeType="1" noTextEdit="1"/>
              </p:cNvSpPr>
              <p:nvPr/>
            </p:nvSpPr>
            <p:spPr>
              <a:xfrm>
                <a:off x="1887521" y="1028214"/>
                <a:ext cx="8724551" cy="4904997"/>
              </a:xfrm>
              <a:prstGeom prst="rect">
                <a:avLst/>
              </a:prstGeom>
              <a:blipFill>
                <a:blip r:embed="rId2"/>
                <a:stretch>
                  <a:fillRect l="-489" t="-746"/>
                </a:stretch>
              </a:blipFill>
            </p:spPr>
            <p:txBody>
              <a:bodyPr/>
              <a:lstStyle/>
              <a:p>
                <a:r>
                  <a:rPr lang="en-US">
                    <a:noFill/>
                  </a:rPr>
                  <a:t> </a:t>
                </a:r>
              </a:p>
            </p:txBody>
          </p:sp>
        </mc:Fallback>
      </mc:AlternateContent>
      <p:pic>
        <p:nvPicPr>
          <p:cNvPr id="6" name="Picture 5" title="j equals bevelled fraction numerator j with bar on top over denominator sigma u subscript infinity end fraction B subscript o">
            <a:extLst>
              <a:ext uri="{FF2B5EF4-FFF2-40B4-BE49-F238E27FC236}">
                <a16:creationId xmlns:a16="http://schemas.microsoft.com/office/drawing/2014/main" id="{1D9F0CA8-1C3F-8BF4-1D9B-3C0A965487F8}"/>
              </a:ext>
            </a:extLst>
          </p:cNvPr>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7686333" y="3820897"/>
            <a:ext cx="840647" cy="238962"/>
          </a:xfrm>
          <a:prstGeom prst="rect">
            <a:avLst/>
          </a:prstGeom>
        </p:spPr>
      </p:pic>
      <p:cxnSp>
        <p:nvCxnSpPr>
          <p:cNvPr id="7" name="Straight Connector 6"/>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2446723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74ADCE4-6482-1D45-5571-FF680CFC166C}"/>
              </a:ext>
            </a:extLst>
          </p:cNvPr>
          <p:cNvSpPr>
            <a:spLocks noGrp="1"/>
          </p:cNvSpPr>
          <p:nvPr>
            <p:ph type="title"/>
          </p:nvPr>
        </p:nvSpPr>
        <p:spPr>
          <a:xfrm>
            <a:off x="760462" y="-197438"/>
            <a:ext cx="10515600" cy="1325563"/>
          </a:xfrm>
        </p:spPr>
        <p:txBody>
          <a:bodyPr>
            <a:normAutofit/>
          </a:bodyPr>
          <a:lstStyle/>
          <a:p>
            <a:pPr algn="ctr"/>
            <a:r>
              <a:rPr lang="en-IN" sz="3600" b="1" dirty="0">
                <a:latin typeface="Times New Roman" panose="02020603050405020304" pitchFamily="18" charset="0"/>
                <a:cs typeface="Times New Roman" panose="02020603050405020304" pitchFamily="18" charset="0"/>
              </a:rPr>
              <a:t>Mesh &amp; Validation</a:t>
            </a:r>
          </a:p>
        </p:txBody>
      </p:sp>
      <p:sp>
        <p:nvSpPr>
          <p:cNvPr id="3" name="Slide Number Placeholder 2">
            <a:extLst>
              <a:ext uri="{FF2B5EF4-FFF2-40B4-BE49-F238E27FC236}">
                <a16:creationId xmlns:a16="http://schemas.microsoft.com/office/drawing/2014/main" id="{53829C9A-6ED0-614A-B744-5BA7972C2E13}"/>
              </a:ext>
            </a:extLst>
          </p:cNvPr>
          <p:cNvSpPr>
            <a:spLocks noGrp="1"/>
          </p:cNvSpPr>
          <p:nvPr>
            <p:ph type="sldNum" sz="quarter" idx="10"/>
          </p:nvPr>
        </p:nvSpPr>
        <p:spPr/>
        <p:txBody>
          <a:bodyPr/>
          <a:lstStyle/>
          <a:p>
            <a:fld id="{98045765-9D82-4A4A-9458-B21A2E924861}" type="slidenum">
              <a:rPr lang="en-US" smtClean="0"/>
              <a:t>6</a:t>
            </a:fld>
            <a:endParaRPr lang="en-US"/>
          </a:p>
        </p:txBody>
      </p:sp>
      <p:sp>
        <p:nvSpPr>
          <p:cNvPr id="5" name="TextBox 4">
            <a:extLst>
              <a:ext uri="{FF2B5EF4-FFF2-40B4-BE49-F238E27FC236}">
                <a16:creationId xmlns:a16="http://schemas.microsoft.com/office/drawing/2014/main" id="{6CE830F4-22AE-24BC-C23F-2902FB51D709}"/>
              </a:ext>
            </a:extLst>
          </p:cNvPr>
          <p:cNvSpPr txBox="1"/>
          <p:nvPr/>
        </p:nvSpPr>
        <p:spPr>
          <a:xfrm>
            <a:off x="1200884" y="623827"/>
            <a:ext cx="10835640" cy="1107996"/>
          </a:xfrm>
          <a:prstGeom prst="rect">
            <a:avLst/>
          </a:prstGeom>
          <a:noFill/>
        </p:spPr>
        <p:txBody>
          <a:bodyPr wrap="square" rtlCol="0">
            <a:spAutoFit/>
          </a:bodyPr>
          <a:lstStyle/>
          <a:p>
            <a:pPr marL="285750" indent="-285750" algn="just">
              <a:buFont typeface="Arial" panose="020B0604020202020204" pitchFamily="34" charset="0"/>
              <a:buChar char="•"/>
            </a:pPr>
            <a:r>
              <a:rPr lang="en-GB" sz="1600" dirty="0">
                <a:latin typeface="Times New Roman" panose="02020603050405020304" pitchFamily="18" charset="0"/>
                <a:cs typeface="Times New Roman" panose="02020603050405020304" pitchFamily="18" charset="0"/>
              </a:rPr>
              <a:t>The mesh selected for the present study has 170000 quadrilateral elements based on Grid independence Test. </a:t>
            </a:r>
          </a:p>
          <a:p>
            <a:pPr marL="285750" indent="-285750" algn="jus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The validation of computational methodology is performed by comparing the Cd vs Ha plot for Re 20,30,40 with existing literature (Chatterjee et al. 2012). It is observed that present simulation shows close resemblance with existing literature.</a:t>
            </a:r>
          </a:p>
          <a:p>
            <a:pPr marL="285750" indent="-285750">
              <a:buFont typeface="Arial" panose="020B0604020202020204" pitchFamily="34" charset="0"/>
              <a:buChar char="•"/>
            </a:pPr>
            <a:endParaRPr lang="en-IN" dirty="0"/>
          </a:p>
        </p:txBody>
      </p:sp>
      <p:pic>
        <p:nvPicPr>
          <p:cNvPr id="6" name="Picture 5">
            <a:extLst>
              <a:ext uri="{FF2B5EF4-FFF2-40B4-BE49-F238E27FC236}">
                <a16:creationId xmlns:a16="http://schemas.microsoft.com/office/drawing/2014/main" id="{1F1A46AB-ACD1-314E-1954-96A740B26377}"/>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l="15773" t="13375" r="18335" b="13478"/>
          <a:stretch>
            <a:fillRect/>
          </a:stretch>
        </p:blipFill>
        <p:spPr bwMode="auto">
          <a:xfrm>
            <a:off x="1058411" y="2479048"/>
            <a:ext cx="2516021" cy="2483486"/>
          </a:xfrm>
          <a:prstGeom prst="rect">
            <a:avLst/>
          </a:prstGeom>
          <a:noFill/>
          <a:ln>
            <a:noFill/>
          </a:ln>
          <a:extLst>
            <a:ext uri="{53640926-AAD7-44D8-BBD7-CCE9431645EC}">
              <a14:shadowObscured xmlns:a14="http://schemas.microsoft.com/office/drawing/2010/main"/>
            </a:ext>
          </a:extLst>
        </p:spPr>
      </p:pic>
      <p:pic>
        <p:nvPicPr>
          <p:cNvPr id="12" name="Picture 11">
            <a:extLst>
              <a:ext uri="{FF2B5EF4-FFF2-40B4-BE49-F238E27FC236}">
                <a16:creationId xmlns:a16="http://schemas.microsoft.com/office/drawing/2014/main" id="{48377752-073E-6EC9-326F-59C4B7361294}"/>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339429" y="1474622"/>
            <a:ext cx="3175295" cy="4314989"/>
          </a:xfrm>
          <a:prstGeom prst="rect">
            <a:avLst/>
          </a:prstGeom>
        </p:spPr>
      </p:pic>
      <p:sp>
        <p:nvSpPr>
          <p:cNvPr id="16" name="Rectangle 3">
            <a:extLst>
              <a:ext uri="{FF2B5EF4-FFF2-40B4-BE49-F238E27FC236}">
                <a16:creationId xmlns:a16="http://schemas.microsoft.com/office/drawing/2014/main" id="{12783CA9-B1AD-E4E6-417C-27ABFF3FD3FF}"/>
              </a:ext>
            </a:extLst>
          </p:cNvPr>
          <p:cNvSpPr>
            <a:spLocks noChangeArrowheads="1"/>
          </p:cNvSpPr>
          <p:nvPr/>
        </p:nvSpPr>
        <p:spPr bwMode="auto">
          <a:xfrm>
            <a:off x="0" y="0"/>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sp>
        <p:nvSpPr>
          <p:cNvPr id="17" name="Rectangle 4">
            <a:extLst>
              <a:ext uri="{FF2B5EF4-FFF2-40B4-BE49-F238E27FC236}">
                <a16:creationId xmlns:a16="http://schemas.microsoft.com/office/drawing/2014/main" id="{40830513-023C-D327-1830-D0EC7FE97E5A}"/>
              </a:ext>
            </a:extLst>
          </p:cNvPr>
          <p:cNvSpPr>
            <a:spLocks noChangeArrowheads="1"/>
          </p:cNvSpPr>
          <p:nvPr/>
        </p:nvSpPr>
        <p:spPr bwMode="auto">
          <a:xfrm>
            <a:off x="152400" y="177567"/>
            <a:ext cx="12192000" cy="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p>
            <a:endParaRPr lang="en-IN"/>
          </a:p>
        </p:txBody>
      </p:sp>
      <p:pic>
        <p:nvPicPr>
          <p:cNvPr id="21" name="Picture 20">
            <a:extLst>
              <a:ext uri="{FF2B5EF4-FFF2-40B4-BE49-F238E27FC236}">
                <a16:creationId xmlns:a16="http://schemas.microsoft.com/office/drawing/2014/main" id="{B67A1C05-0CDE-FCCE-0D42-12FE958C8A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864703" y="1939953"/>
            <a:ext cx="4144486" cy="3685097"/>
          </a:xfrm>
          <a:prstGeom prst="rect">
            <a:avLst/>
          </a:prstGeom>
        </p:spPr>
      </p:pic>
      <p:cxnSp>
        <p:nvCxnSpPr>
          <p:cNvPr id="10" name="Straight Connector 9"/>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4" name="TextBox 3"/>
          <p:cNvSpPr txBox="1"/>
          <p:nvPr/>
        </p:nvSpPr>
        <p:spPr>
          <a:xfrm>
            <a:off x="814222" y="5094514"/>
            <a:ext cx="3175228" cy="338554"/>
          </a:xfrm>
          <a:prstGeom prst="rect">
            <a:avLst/>
          </a:prstGeom>
          <a:noFill/>
        </p:spPr>
        <p:txBody>
          <a:bodyPr wrap="none" rtlCol="0">
            <a:spAutoFit/>
          </a:bodyPr>
          <a:lstStyle/>
          <a:p>
            <a:r>
              <a:rPr lang="en-US" sz="1600" b="1" dirty="0">
                <a:solidFill>
                  <a:srgbClr val="C00000"/>
                </a:solidFill>
                <a:latin typeface="Times New Roman" panose="02020603050405020304" pitchFamily="18" charset="0"/>
                <a:cs typeface="Times New Roman" panose="02020603050405020304" pitchFamily="18" charset="0"/>
              </a:rPr>
              <a:t>Close View of Mesh near Cylinder</a:t>
            </a:r>
          </a:p>
        </p:txBody>
      </p:sp>
      <p:sp>
        <p:nvSpPr>
          <p:cNvPr id="13" name="TextBox 12"/>
          <p:cNvSpPr txBox="1"/>
          <p:nvPr/>
        </p:nvSpPr>
        <p:spPr>
          <a:xfrm>
            <a:off x="4722259" y="5704114"/>
            <a:ext cx="2443298" cy="338554"/>
          </a:xfrm>
          <a:prstGeom prst="rect">
            <a:avLst/>
          </a:prstGeom>
          <a:noFill/>
        </p:spPr>
        <p:txBody>
          <a:bodyPr wrap="none" rtlCol="0">
            <a:spAutoFit/>
          </a:bodyPr>
          <a:lstStyle/>
          <a:p>
            <a:r>
              <a:rPr lang="en-US" sz="1600" b="1" dirty="0">
                <a:solidFill>
                  <a:srgbClr val="C00000"/>
                </a:solidFill>
                <a:latin typeface="Times New Roman" panose="02020603050405020304" pitchFamily="18" charset="0"/>
                <a:cs typeface="Times New Roman" panose="02020603050405020304" pitchFamily="18" charset="0"/>
              </a:rPr>
              <a:t>Grid Independence Study</a:t>
            </a:r>
          </a:p>
        </p:txBody>
      </p:sp>
      <p:sp>
        <p:nvSpPr>
          <p:cNvPr id="14" name="TextBox 13"/>
          <p:cNvSpPr txBox="1"/>
          <p:nvPr/>
        </p:nvSpPr>
        <p:spPr>
          <a:xfrm>
            <a:off x="8832764" y="5638817"/>
            <a:ext cx="2506199" cy="338554"/>
          </a:xfrm>
          <a:prstGeom prst="rect">
            <a:avLst/>
          </a:prstGeom>
          <a:noFill/>
        </p:spPr>
        <p:txBody>
          <a:bodyPr wrap="none" rtlCol="0">
            <a:spAutoFit/>
          </a:bodyPr>
          <a:lstStyle/>
          <a:p>
            <a:r>
              <a:rPr lang="en-US" sz="1600" b="1" dirty="0">
                <a:solidFill>
                  <a:srgbClr val="C00000"/>
                </a:solidFill>
                <a:latin typeface="Times New Roman" panose="02020603050405020304" pitchFamily="18" charset="0"/>
                <a:cs typeface="Times New Roman" panose="02020603050405020304" pitchFamily="18" charset="0"/>
              </a:rPr>
              <a:t>Validation of Methodology</a:t>
            </a:r>
          </a:p>
        </p:txBody>
      </p:sp>
    </p:spTree>
    <p:extLst>
      <p:ext uri="{BB962C8B-B14F-4D97-AF65-F5344CB8AC3E}">
        <p14:creationId xmlns:p14="http://schemas.microsoft.com/office/powerpoint/2010/main" val="52534083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D6B8949F-8AF3-1EC0-FE4B-A2C39E457152}"/>
              </a:ext>
            </a:extLst>
          </p:cNvPr>
          <p:cNvSpPr>
            <a:spLocks noGrp="1"/>
          </p:cNvSpPr>
          <p:nvPr>
            <p:ph type="sldNum" sz="quarter" idx="10"/>
          </p:nvPr>
        </p:nvSpPr>
        <p:spPr/>
        <p:txBody>
          <a:bodyPr/>
          <a:lstStyle/>
          <a:p>
            <a:fld id="{98045765-9D82-4A4A-9458-B21A2E924861}" type="slidenum">
              <a:rPr lang="en-US" smtClean="0"/>
              <a:t>7</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7CAEBE5A-0E09-77ED-3F07-A8915A5A8AA9}"/>
                  </a:ext>
                </a:extLst>
              </p:cNvPr>
              <p:cNvSpPr txBox="1"/>
              <p:nvPr/>
            </p:nvSpPr>
            <p:spPr>
              <a:xfrm>
                <a:off x="1317073" y="1291905"/>
                <a:ext cx="9758364" cy="3546548"/>
              </a:xfrm>
              <a:prstGeom prst="rect">
                <a:avLst/>
              </a:prstGeom>
              <a:noFill/>
            </p:spPr>
            <p:txBody>
              <a:bodyPr wrap="square" rtlCol="0">
                <a:spAutoFit/>
              </a:bodyPr>
              <a:lstStyle/>
              <a:p>
                <a:pPr marL="285750" indent="-285750" algn="just">
                  <a:buFont typeface="Wingdings" panose="05000000000000000000" pitchFamily="2" charset="2"/>
                  <a:buChar char="q"/>
                </a:pPr>
                <a:r>
                  <a:rPr lang="en-US" dirty="0"/>
                  <a:t>At the inlet, a uniform velocity profile is specified. </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The cylinder surface follows a no-slip condition and is heated temperature of 301 K.</a:t>
                </a:r>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At the outlet, zero-gradient conditions are applied: </a:t>
                </a:r>
                <a:r>
                  <a:rPr lang="en-IN" dirty="0"/>
                  <a:t>(</a:t>
                </a:r>
                <a14:m>
                  <m:oMath xmlns:m="http://schemas.openxmlformats.org/officeDocument/2006/math">
                    <m:f>
                      <m:fPr>
                        <m:ctrlPr>
                          <a:rPr lang="en-IN" i="1">
                            <a:latin typeface="Cambria Math" panose="02040503050406030204" pitchFamily="18" charset="0"/>
                          </a:rPr>
                        </m:ctrlPr>
                      </m:fPr>
                      <m:num>
                        <m:r>
                          <a:rPr lang="en-IN" i="1">
                            <a:latin typeface="Cambria Math" panose="02040503050406030204" pitchFamily="18" charset="0"/>
                          </a:rPr>
                          <m:t>𝜕</m:t>
                        </m:r>
                        <m:r>
                          <a:rPr lang="en-IN" i="1">
                            <a:latin typeface="Cambria Math" panose="02040503050406030204" pitchFamily="18" charset="0"/>
                          </a:rPr>
                          <m:t>𝑢</m:t>
                        </m:r>
                      </m:num>
                      <m:den>
                        <m:r>
                          <a:rPr lang="en-IN" i="1">
                            <a:latin typeface="Cambria Math" panose="02040503050406030204" pitchFamily="18" charset="0"/>
                          </a:rPr>
                          <m:t>𝜕</m:t>
                        </m:r>
                        <m:r>
                          <a:rPr lang="en-IN" i="1">
                            <a:latin typeface="Cambria Math" panose="02040503050406030204" pitchFamily="18" charset="0"/>
                          </a:rPr>
                          <m:t>𝑥</m:t>
                        </m:r>
                      </m:den>
                    </m:f>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m:t>
                        </m:r>
                        <m:r>
                          <a:rPr lang="en-IN" i="1">
                            <a:latin typeface="Cambria Math" panose="02040503050406030204" pitchFamily="18" charset="0"/>
                          </a:rPr>
                          <m:t>𝑣</m:t>
                        </m:r>
                      </m:num>
                      <m:den>
                        <m:r>
                          <a:rPr lang="en-IN" i="1">
                            <a:latin typeface="Cambria Math" panose="02040503050406030204" pitchFamily="18" charset="0"/>
                          </a:rPr>
                          <m:t>𝜕</m:t>
                        </m:r>
                        <m:r>
                          <a:rPr lang="en-IN" i="1">
                            <a:latin typeface="Cambria Math" panose="02040503050406030204" pitchFamily="18" charset="0"/>
                          </a:rPr>
                          <m:t>𝑥</m:t>
                        </m:r>
                      </m:den>
                    </m:f>
                    <m:r>
                      <a:rPr lang="en-IN" i="1">
                        <a:latin typeface="Cambria Math" panose="02040503050406030204" pitchFamily="18" charset="0"/>
                      </a:rPr>
                      <m:t>=</m:t>
                    </m:r>
                    <m:f>
                      <m:fPr>
                        <m:ctrlPr>
                          <a:rPr lang="en-IN" i="1">
                            <a:latin typeface="Cambria Math" panose="02040503050406030204" pitchFamily="18" charset="0"/>
                          </a:rPr>
                        </m:ctrlPr>
                      </m:fPr>
                      <m:num>
                        <m:r>
                          <a:rPr lang="en-IN" i="1">
                            <a:latin typeface="Cambria Math" panose="02040503050406030204" pitchFamily="18" charset="0"/>
                          </a:rPr>
                          <m:t>𝜕𝜃</m:t>
                        </m:r>
                      </m:num>
                      <m:den>
                        <m:r>
                          <a:rPr lang="en-IN" i="1">
                            <a:latin typeface="Cambria Math" panose="02040503050406030204" pitchFamily="18" charset="0"/>
                          </a:rPr>
                          <m:t>𝜕</m:t>
                        </m:r>
                        <m:r>
                          <a:rPr lang="en-IN" i="1">
                            <a:latin typeface="Cambria Math" panose="02040503050406030204" pitchFamily="18" charset="0"/>
                          </a:rPr>
                          <m:t>𝑥</m:t>
                        </m:r>
                      </m:den>
                    </m:f>
                    <m:r>
                      <a:rPr lang="en-IN" i="1">
                        <a:latin typeface="Cambria Math" panose="02040503050406030204" pitchFamily="18" charset="0"/>
                      </a:rPr>
                      <m:t>=</m:t>
                    </m:r>
                    <m:r>
                      <a:rPr lang="en-IN" i="1">
                        <a:latin typeface="Cambria Math" panose="02040503050406030204" pitchFamily="18" charset="0"/>
                      </a:rPr>
                      <m:t>0</m:t>
                    </m:r>
                    <m:r>
                      <a:rPr lang="en-IN" i="1">
                        <a:latin typeface="Cambria Math" panose="02040503050406030204" pitchFamily="18" charset="0"/>
                      </a:rPr>
                      <m:t>). </m:t>
                    </m:r>
                  </m:oMath>
                </a14:m>
                <a:endParaRPr lang="en-IN" dirty="0"/>
              </a:p>
              <a:p>
                <a:pPr marL="285750" indent="-285750" algn="just">
                  <a:buFont typeface="Wingdings" panose="05000000000000000000" pitchFamily="2" charset="2"/>
                  <a:buChar char="q"/>
                </a:pPr>
                <a:endParaRPr lang="en-US" dirty="0"/>
              </a:p>
              <a:p>
                <a:pPr marL="285750" indent="-285750" algn="just">
                  <a:buFont typeface="Wingdings" panose="05000000000000000000" pitchFamily="2" charset="2"/>
                  <a:buChar char="q"/>
                </a:pPr>
                <a:r>
                  <a:rPr lang="en-US" dirty="0"/>
                  <a:t>The governing equations are solved using the finite volume method in ANSYS Fluent.</a:t>
                </a:r>
              </a:p>
              <a:p>
                <a:pPr marL="285750" indent="-285750" algn="just">
                  <a:buFont typeface="Wingdings" panose="05000000000000000000" pitchFamily="2" charset="2"/>
                  <a:buChar char="q"/>
                </a:pPr>
                <a:endParaRPr lang="en-GB" dirty="0"/>
              </a:p>
              <a:p>
                <a:pPr marL="285750" indent="-285750" algn="just">
                  <a:buFont typeface="Wingdings" panose="05000000000000000000" pitchFamily="2" charset="2"/>
                  <a:buChar char="q"/>
                </a:pPr>
                <a:r>
                  <a:rPr lang="en-US" dirty="0"/>
                  <a:t>The convective terms are discretized using the Quadratic Upstream Interpolation for   Convective Kinetics (QUICK) scheme, and pressure–velocity coupling is achieved through the Semi-Implicit Method for Pressure-Linked Equations (SIMPLE) algorithm.</a:t>
                </a:r>
                <a:endParaRPr lang="en-GB" dirty="0"/>
              </a:p>
              <a:p>
                <a:pPr marL="285750" indent="-285750" algn="just">
                  <a:buFont typeface="Wingdings" panose="05000000000000000000" pitchFamily="2" charset="2"/>
                  <a:buChar char="q"/>
                </a:pPr>
                <a:endParaRPr lang="en-IN" dirty="0"/>
              </a:p>
            </p:txBody>
          </p:sp>
        </mc:Choice>
        <mc:Fallback xmlns="">
          <p:sp>
            <p:nvSpPr>
              <p:cNvPr id="4" name="TextBox 3">
                <a:extLst>
                  <a:ext uri="{FF2B5EF4-FFF2-40B4-BE49-F238E27FC236}">
                    <a16:creationId xmlns:a16="http://schemas.microsoft.com/office/drawing/2014/main" id="{7CAEBE5A-0E09-77ED-3F07-A8915A5A8AA9}"/>
                  </a:ext>
                </a:extLst>
              </p:cNvPr>
              <p:cNvSpPr txBox="1">
                <a:spLocks noRot="1" noChangeAspect="1" noMove="1" noResize="1" noEditPoints="1" noAdjustHandles="1" noChangeArrowheads="1" noChangeShapeType="1" noTextEdit="1"/>
              </p:cNvSpPr>
              <p:nvPr/>
            </p:nvSpPr>
            <p:spPr>
              <a:xfrm>
                <a:off x="1317073" y="1291905"/>
                <a:ext cx="9758364" cy="3546548"/>
              </a:xfrm>
              <a:prstGeom prst="rect">
                <a:avLst/>
              </a:prstGeom>
              <a:blipFill>
                <a:blip r:embed="rId2"/>
                <a:stretch>
                  <a:fillRect l="-375" t="-1031" r="-562"/>
                </a:stretch>
              </a:blipFill>
            </p:spPr>
            <p:txBody>
              <a:bodyPr/>
              <a:lstStyle/>
              <a:p>
                <a:r>
                  <a:rPr lang="en-US">
                    <a:noFill/>
                  </a:rPr>
                  <a:t> </a:t>
                </a:r>
              </a:p>
            </p:txBody>
          </p:sp>
        </mc:Fallback>
      </mc:AlternateContent>
      <p:sp>
        <p:nvSpPr>
          <p:cNvPr id="2" name="Title 1">
            <a:extLst>
              <a:ext uri="{FF2B5EF4-FFF2-40B4-BE49-F238E27FC236}">
                <a16:creationId xmlns:a16="http://schemas.microsoft.com/office/drawing/2014/main" id="{BA586F3C-F5B6-EC70-47F3-355EC7B18ED1}"/>
              </a:ext>
            </a:extLst>
          </p:cNvPr>
          <p:cNvSpPr>
            <a:spLocks noGrp="1"/>
          </p:cNvSpPr>
          <p:nvPr>
            <p:ph type="title"/>
          </p:nvPr>
        </p:nvSpPr>
        <p:spPr>
          <a:xfrm>
            <a:off x="761302" y="0"/>
            <a:ext cx="10515600" cy="905069"/>
          </a:xfrm>
        </p:spPr>
        <p:txBody>
          <a:bodyPr/>
          <a:lstStyle/>
          <a:p>
            <a:pPr algn="ctr"/>
            <a:r>
              <a:rPr lang="en-IN" sz="3600" b="1" dirty="0">
                <a:latin typeface="Times New Roman" panose="02020603050405020304" pitchFamily="18" charset="0"/>
                <a:cs typeface="Times New Roman" panose="02020603050405020304" pitchFamily="18" charset="0"/>
              </a:rPr>
              <a:t>Setup</a:t>
            </a:r>
          </a:p>
        </p:txBody>
      </p:sp>
      <p:cxnSp>
        <p:nvCxnSpPr>
          <p:cNvPr id="5" name="Straight Connector 4"/>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36257761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EB64B5E-3492-603D-E68C-474FA686EAF7}"/>
              </a:ext>
            </a:extLst>
          </p:cNvPr>
          <p:cNvSpPr>
            <a:spLocks noGrp="1"/>
          </p:cNvSpPr>
          <p:nvPr>
            <p:ph type="title"/>
          </p:nvPr>
        </p:nvSpPr>
        <p:spPr>
          <a:xfrm>
            <a:off x="998220" y="-185209"/>
            <a:ext cx="10515600" cy="1220907"/>
          </a:xfrm>
        </p:spPr>
        <p:txBody>
          <a:bodyPr>
            <a:normAutofit/>
          </a:bodyPr>
          <a:lstStyle/>
          <a:p>
            <a:pPr algn="ctr"/>
            <a:r>
              <a:rPr lang="en-IN" sz="3600" b="1" dirty="0">
                <a:latin typeface="Times New Roman" panose="02020603050405020304" pitchFamily="18" charset="0"/>
                <a:cs typeface="Times New Roman" panose="02020603050405020304" pitchFamily="18" charset="0"/>
              </a:rPr>
              <a:t>Flow Dynamics- Streamlines, Re 1000</a:t>
            </a:r>
          </a:p>
        </p:txBody>
      </p:sp>
      <p:sp>
        <p:nvSpPr>
          <p:cNvPr id="3" name="Slide Number Placeholder 2">
            <a:extLst>
              <a:ext uri="{FF2B5EF4-FFF2-40B4-BE49-F238E27FC236}">
                <a16:creationId xmlns:a16="http://schemas.microsoft.com/office/drawing/2014/main" id="{AB27B4AB-A41B-D6FD-230C-1F700C6D044E}"/>
              </a:ext>
            </a:extLst>
          </p:cNvPr>
          <p:cNvSpPr>
            <a:spLocks noGrp="1"/>
          </p:cNvSpPr>
          <p:nvPr>
            <p:ph type="sldNum" sz="quarter" idx="10"/>
          </p:nvPr>
        </p:nvSpPr>
        <p:spPr/>
        <p:txBody>
          <a:bodyPr/>
          <a:lstStyle/>
          <a:p>
            <a:fld id="{98045765-9D82-4A4A-9458-B21A2E924861}" type="slidenum">
              <a:rPr lang="en-US" smtClean="0"/>
              <a:t>8</a:t>
            </a:fld>
            <a:endParaRPr lang="en-US"/>
          </a:p>
        </p:txBody>
      </p:sp>
      <p:sp>
        <p:nvSpPr>
          <p:cNvPr id="4" name="TextBox 3">
            <a:extLst>
              <a:ext uri="{FF2B5EF4-FFF2-40B4-BE49-F238E27FC236}">
                <a16:creationId xmlns:a16="http://schemas.microsoft.com/office/drawing/2014/main" id="{0E16A51F-7DCD-A49B-6DE2-1A0E8ABFC7EC}"/>
              </a:ext>
            </a:extLst>
          </p:cNvPr>
          <p:cNvSpPr txBox="1"/>
          <p:nvPr/>
        </p:nvSpPr>
        <p:spPr>
          <a:xfrm>
            <a:off x="903769" y="715993"/>
            <a:ext cx="10526231" cy="1384995"/>
          </a:xfrm>
          <a:prstGeom prst="rect">
            <a:avLst/>
          </a:prstGeom>
          <a:noFill/>
        </p:spPr>
        <p:txBody>
          <a:bodyPr wrap="square" rtlCol="0">
            <a:spAutoFit/>
          </a:bodyPr>
          <a:lstStyle/>
          <a:p>
            <a:pPr marL="742950" lvl="1" indent="-285750" algn="just">
              <a:buFont typeface="Wingdings" panose="05000000000000000000" pitchFamily="2" charset="2"/>
              <a:buChar char="ü"/>
            </a:pPr>
            <a:r>
              <a:rPr lang="en-IN" sz="1400" dirty="0">
                <a:latin typeface="Times New Roman" panose="02020603050405020304" pitchFamily="18" charset="0"/>
                <a:cs typeface="Times New Roman" panose="02020603050405020304" pitchFamily="18" charset="0"/>
              </a:rPr>
              <a:t>Re = 1,000: At Ha = 25, the flow stabilizes significantly, forming symmetric recirculation bubbles at the wake of the cylinder. </a:t>
            </a:r>
          </a:p>
          <a:p>
            <a:pPr marL="742950" lvl="1" indent="-285750" algn="just">
              <a:buFont typeface="Wingdings" panose="05000000000000000000" pitchFamily="2" charset="2"/>
              <a:buChar char="ü"/>
            </a:pPr>
            <a:r>
              <a:rPr lang="en-IN" sz="1400" dirty="0">
                <a:latin typeface="Times New Roman" panose="02020603050405020304" pitchFamily="18" charset="0"/>
                <a:cs typeface="Times New Roman" panose="02020603050405020304" pitchFamily="18" charset="0"/>
              </a:rPr>
              <a:t>When Ha is further increased to Ha = 50, the wake becomes completely steady and symmetric, and no distinct vortex structures are observed. </a:t>
            </a:r>
          </a:p>
          <a:p>
            <a:pPr marL="742950" lvl="1" indent="-285750" algn="just">
              <a:buFont typeface="Wingdings" panose="05000000000000000000" pitchFamily="2" charset="2"/>
              <a:buChar char="ü"/>
            </a:pPr>
            <a:r>
              <a:rPr lang="en-IN" sz="1400" dirty="0">
                <a:latin typeface="Times New Roman" panose="02020603050405020304" pitchFamily="18" charset="0"/>
                <a:cs typeface="Times New Roman" panose="02020603050405020304" pitchFamily="18" charset="0"/>
              </a:rPr>
              <a:t>Beyond Ha= 50, the flow continues to be fully stabilized.</a:t>
            </a:r>
          </a:p>
          <a:p>
            <a:pPr lvl="1"/>
            <a:endParaRPr lang="en-IN" sz="1400" dirty="0"/>
          </a:p>
          <a:p>
            <a:pPr lvl="1"/>
            <a:endParaRPr lang="en-IN" sz="1400" dirty="0"/>
          </a:p>
        </p:txBody>
      </p:sp>
      <p:pic>
        <p:nvPicPr>
          <p:cNvPr id="6" name="Picture 5">
            <a:extLst>
              <a:ext uri="{FF2B5EF4-FFF2-40B4-BE49-F238E27FC236}">
                <a16:creationId xmlns:a16="http://schemas.microsoft.com/office/drawing/2014/main" id="{41565042-77AA-D47B-7122-53F5C81AB9F6}"/>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587460" y="1712365"/>
            <a:ext cx="2119762" cy="1884703"/>
          </a:xfrm>
          <a:prstGeom prst="rect">
            <a:avLst/>
          </a:prstGeom>
        </p:spPr>
      </p:pic>
      <p:pic>
        <p:nvPicPr>
          <p:cNvPr id="8" name="Picture 7">
            <a:extLst>
              <a:ext uri="{FF2B5EF4-FFF2-40B4-BE49-F238E27FC236}">
                <a16:creationId xmlns:a16="http://schemas.microsoft.com/office/drawing/2014/main" id="{438DB6CF-575E-2A2C-0AE4-76B6EE06C249}"/>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843576" y="1712365"/>
            <a:ext cx="2119440" cy="1884417"/>
          </a:xfrm>
          <a:prstGeom prst="rect">
            <a:avLst/>
          </a:prstGeom>
        </p:spPr>
      </p:pic>
      <p:pic>
        <p:nvPicPr>
          <p:cNvPr id="10" name="Picture 9">
            <a:extLst>
              <a:ext uri="{FF2B5EF4-FFF2-40B4-BE49-F238E27FC236}">
                <a16:creationId xmlns:a16="http://schemas.microsoft.com/office/drawing/2014/main" id="{C1329DD2-D844-9672-2800-1CB06AA96B47}"/>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088441" y="1712364"/>
            <a:ext cx="2119440" cy="1884417"/>
          </a:xfrm>
          <a:prstGeom prst="rect">
            <a:avLst/>
          </a:prstGeom>
        </p:spPr>
      </p:pic>
      <p:pic>
        <p:nvPicPr>
          <p:cNvPr id="12" name="Picture 11">
            <a:extLst>
              <a:ext uri="{FF2B5EF4-FFF2-40B4-BE49-F238E27FC236}">
                <a16:creationId xmlns:a16="http://schemas.microsoft.com/office/drawing/2014/main" id="{0B900600-B13C-61AC-6A2F-B0273FCA72E5}"/>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333306" y="1712077"/>
            <a:ext cx="2119440" cy="1884417"/>
          </a:xfrm>
          <a:prstGeom prst="rect">
            <a:avLst/>
          </a:prstGeom>
        </p:spPr>
      </p:pic>
      <p:pic>
        <p:nvPicPr>
          <p:cNvPr id="14" name="Picture 13">
            <a:extLst>
              <a:ext uri="{FF2B5EF4-FFF2-40B4-BE49-F238E27FC236}">
                <a16:creationId xmlns:a16="http://schemas.microsoft.com/office/drawing/2014/main" id="{AA6D81D1-D4EE-BBF9-35CE-1C3E66F67CD3}"/>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587460" y="3904942"/>
            <a:ext cx="2119762" cy="1884704"/>
          </a:xfrm>
          <a:prstGeom prst="rect">
            <a:avLst/>
          </a:prstGeom>
        </p:spPr>
      </p:pic>
      <p:pic>
        <p:nvPicPr>
          <p:cNvPr id="16" name="Picture 15">
            <a:extLst>
              <a:ext uri="{FF2B5EF4-FFF2-40B4-BE49-F238E27FC236}">
                <a16:creationId xmlns:a16="http://schemas.microsoft.com/office/drawing/2014/main" id="{017CE882-0562-0C30-B84A-E09485AF04B6}"/>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3859922" y="3904942"/>
            <a:ext cx="2119440" cy="1884417"/>
          </a:xfrm>
          <a:prstGeom prst="rect">
            <a:avLst/>
          </a:prstGeom>
        </p:spPr>
      </p:pic>
      <p:pic>
        <p:nvPicPr>
          <p:cNvPr id="18" name="Picture 17">
            <a:extLst>
              <a:ext uri="{FF2B5EF4-FFF2-40B4-BE49-F238E27FC236}">
                <a16:creationId xmlns:a16="http://schemas.microsoft.com/office/drawing/2014/main" id="{8E337B67-112E-F57D-B019-F38B283CE327}"/>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6088441" y="3904942"/>
            <a:ext cx="2119440" cy="1884417"/>
          </a:xfrm>
          <a:prstGeom prst="rect">
            <a:avLst/>
          </a:prstGeom>
        </p:spPr>
      </p:pic>
      <p:pic>
        <p:nvPicPr>
          <p:cNvPr id="20" name="Picture 19">
            <a:extLst>
              <a:ext uri="{FF2B5EF4-FFF2-40B4-BE49-F238E27FC236}">
                <a16:creationId xmlns:a16="http://schemas.microsoft.com/office/drawing/2014/main" id="{A24E2F67-ABE1-94C2-C3BF-F0F9A01DBFCE}"/>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8333306" y="3904941"/>
            <a:ext cx="2119440" cy="1884417"/>
          </a:xfrm>
          <a:prstGeom prst="rect">
            <a:avLst/>
          </a:prstGeom>
        </p:spPr>
      </p:pic>
      <p:sp>
        <p:nvSpPr>
          <p:cNvPr id="21" name="TextBox 20">
            <a:extLst>
              <a:ext uri="{FF2B5EF4-FFF2-40B4-BE49-F238E27FC236}">
                <a16:creationId xmlns:a16="http://schemas.microsoft.com/office/drawing/2014/main" id="{5DCD958C-E004-16FB-25FD-126AFEB1C5AD}"/>
              </a:ext>
            </a:extLst>
          </p:cNvPr>
          <p:cNvSpPr txBox="1"/>
          <p:nvPr/>
        </p:nvSpPr>
        <p:spPr>
          <a:xfrm>
            <a:off x="2176182" y="5775208"/>
            <a:ext cx="942317" cy="369332"/>
          </a:xfrm>
          <a:prstGeom prst="rect">
            <a:avLst/>
          </a:prstGeom>
          <a:noFill/>
        </p:spPr>
        <p:txBody>
          <a:bodyPr wrap="square" rtlCol="0">
            <a:spAutoFit/>
          </a:bodyPr>
          <a:lstStyle/>
          <a:p>
            <a:r>
              <a:rPr lang="en-IN" dirty="0"/>
              <a:t>Ha=100</a:t>
            </a:r>
          </a:p>
        </p:txBody>
      </p:sp>
      <p:sp>
        <p:nvSpPr>
          <p:cNvPr id="22" name="TextBox 21">
            <a:extLst>
              <a:ext uri="{FF2B5EF4-FFF2-40B4-BE49-F238E27FC236}">
                <a16:creationId xmlns:a16="http://schemas.microsoft.com/office/drawing/2014/main" id="{2647339A-B85E-D3A1-81F2-C676C153C04A}"/>
              </a:ext>
            </a:extLst>
          </p:cNvPr>
          <p:cNvSpPr txBox="1"/>
          <p:nvPr/>
        </p:nvSpPr>
        <p:spPr>
          <a:xfrm>
            <a:off x="2301600" y="3552325"/>
            <a:ext cx="702734" cy="369332"/>
          </a:xfrm>
          <a:prstGeom prst="rect">
            <a:avLst/>
          </a:prstGeom>
          <a:noFill/>
        </p:spPr>
        <p:txBody>
          <a:bodyPr wrap="square" rtlCol="0">
            <a:spAutoFit/>
          </a:bodyPr>
          <a:lstStyle/>
          <a:p>
            <a:r>
              <a:rPr lang="en-IN" dirty="0"/>
              <a:t>Ha=0</a:t>
            </a:r>
          </a:p>
        </p:txBody>
      </p:sp>
      <p:sp>
        <p:nvSpPr>
          <p:cNvPr id="23" name="TextBox 22">
            <a:extLst>
              <a:ext uri="{FF2B5EF4-FFF2-40B4-BE49-F238E27FC236}">
                <a16:creationId xmlns:a16="http://schemas.microsoft.com/office/drawing/2014/main" id="{A786C0FF-27CD-40A2-8C92-4744E536339E}"/>
              </a:ext>
            </a:extLst>
          </p:cNvPr>
          <p:cNvSpPr txBox="1"/>
          <p:nvPr/>
        </p:nvSpPr>
        <p:spPr>
          <a:xfrm>
            <a:off x="4565813" y="3557653"/>
            <a:ext cx="803678" cy="369332"/>
          </a:xfrm>
          <a:prstGeom prst="rect">
            <a:avLst/>
          </a:prstGeom>
          <a:noFill/>
        </p:spPr>
        <p:txBody>
          <a:bodyPr wrap="square" rtlCol="0">
            <a:spAutoFit/>
          </a:bodyPr>
          <a:lstStyle/>
          <a:p>
            <a:r>
              <a:rPr lang="en-IN" dirty="0"/>
              <a:t>Ha=25</a:t>
            </a:r>
          </a:p>
        </p:txBody>
      </p:sp>
      <p:sp>
        <p:nvSpPr>
          <p:cNvPr id="24" name="TextBox 23">
            <a:extLst>
              <a:ext uri="{FF2B5EF4-FFF2-40B4-BE49-F238E27FC236}">
                <a16:creationId xmlns:a16="http://schemas.microsoft.com/office/drawing/2014/main" id="{87F62189-234D-EA53-6515-3D43637CC8D8}"/>
              </a:ext>
            </a:extLst>
          </p:cNvPr>
          <p:cNvSpPr txBox="1"/>
          <p:nvPr/>
        </p:nvSpPr>
        <p:spPr>
          <a:xfrm>
            <a:off x="4469793" y="5750097"/>
            <a:ext cx="899698" cy="369332"/>
          </a:xfrm>
          <a:prstGeom prst="rect">
            <a:avLst/>
          </a:prstGeom>
          <a:noFill/>
        </p:spPr>
        <p:txBody>
          <a:bodyPr wrap="square" rtlCol="0">
            <a:spAutoFit/>
          </a:bodyPr>
          <a:lstStyle/>
          <a:p>
            <a:r>
              <a:rPr lang="en-IN" dirty="0"/>
              <a:t>Ha=125</a:t>
            </a:r>
          </a:p>
        </p:txBody>
      </p:sp>
      <p:sp>
        <p:nvSpPr>
          <p:cNvPr id="25" name="TextBox 24">
            <a:extLst>
              <a:ext uri="{FF2B5EF4-FFF2-40B4-BE49-F238E27FC236}">
                <a16:creationId xmlns:a16="http://schemas.microsoft.com/office/drawing/2014/main" id="{F35B1B78-54F0-782B-4349-895F51306F07}"/>
              </a:ext>
            </a:extLst>
          </p:cNvPr>
          <p:cNvSpPr txBox="1"/>
          <p:nvPr/>
        </p:nvSpPr>
        <p:spPr>
          <a:xfrm>
            <a:off x="6821607" y="3535611"/>
            <a:ext cx="909036" cy="369332"/>
          </a:xfrm>
          <a:prstGeom prst="rect">
            <a:avLst/>
          </a:prstGeom>
          <a:noFill/>
        </p:spPr>
        <p:txBody>
          <a:bodyPr wrap="square" rtlCol="0">
            <a:spAutoFit/>
          </a:bodyPr>
          <a:lstStyle/>
          <a:p>
            <a:r>
              <a:rPr lang="en-IN" dirty="0"/>
              <a:t>Ha=50</a:t>
            </a:r>
          </a:p>
        </p:txBody>
      </p:sp>
      <p:sp>
        <p:nvSpPr>
          <p:cNvPr id="26" name="TextBox 25">
            <a:extLst>
              <a:ext uri="{FF2B5EF4-FFF2-40B4-BE49-F238E27FC236}">
                <a16:creationId xmlns:a16="http://schemas.microsoft.com/office/drawing/2014/main" id="{3541AC7D-D79D-5E00-79E3-3CF6A627DBBA}"/>
              </a:ext>
            </a:extLst>
          </p:cNvPr>
          <p:cNvSpPr txBox="1"/>
          <p:nvPr/>
        </p:nvSpPr>
        <p:spPr>
          <a:xfrm>
            <a:off x="6788326" y="5789358"/>
            <a:ext cx="942317" cy="369332"/>
          </a:xfrm>
          <a:prstGeom prst="rect">
            <a:avLst/>
          </a:prstGeom>
          <a:noFill/>
        </p:spPr>
        <p:txBody>
          <a:bodyPr wrap="square" rtlCol="0">
            <a:spAutoFit/>
          </a:bodyPr>
          <a:lstStyle/>
          <a:p>
            <a:r>
              <a:rPr lang="en-IN" dirty="0"/>
              <a:t>Ha=150</a:t>
            </a:r>
          </a:p>
        </p:txBody>
      </p:sp>
      <p:sp>
        <p:nvSpPr>
          <p:cNvPr id="27" name="TextBox 26">
            <a:extLst>
              <a:ext uri="{FF2B5EF4-FFF2-40B4-BE49-F238E27FC236}">
                <a16:creationId xmlns:a16="http://schemas.microsoft.com/office/drawing/2014/main" id="{05272C6F-B3EB-5B96-5D86-AA84C1A97EB7}"/>
              </a:ext>
            </a:extLst>
          </p:cNvPr>
          <p:cNvSpPr txBox="1"/>
          <p:nvPr/>
        </p:nvSpPr>
        <p:spPr>
          <a:xfrm>
            <a:off x="8976878" y="3535609"/>
            <a:ext cx="909036" cy="369332"/>
          </a:xfrm>
          <a:prstGeom prst="rect">
            <a:avLst/>
          </a:prstGeom>
          <a:noFill/>
        </p:spPr>
        <p:txBody>
          <a:bodyPr wrap="square" rtlCol="0">
            <a:spAutoFit/>
          </a:bodyPr>
          <a:lstStyle/>
          <a:p>
            <a:r>
              <a:rPr lang="en-IN" dirty="0"/>
              <a:t>Ha=75</a:t>
            </a:r>
          </a:p>
        </p:txBody>
      </p:sp>
      <p:sp>
        <p:nvSpPr>
          <p:cNvPr id="28" name="TextBox 27">
            <a:extLst>
              <a:ext uri="{FF2B5EF4-FFF2-40B4-BE49-F238E27FC236}">
                <a16:creationId xmlns:a16="http://schemas.microsoft.com/office/drawing/2014/main" id="{0C18A6BD-50D2-C26E-BF63-114C511460AD}"/>
              </a:ext>
            </a:extLst>
          </p:cNvPr>
          <p:cNvSpPr txBox="1"/>
          <p:nvPr/>
        </p:nvSpPr>
        <p:spPr>
          <a:xfrm>
            <a:off x="8947845" y="5772136"/>
            <a:ext cx="899699" cy="369332"/>
          </a:xfrm>
          <a:prstGeom prst="rect">
            <a:avLst/>
          </a:prstGeom>
          <a:noFill/>
        </p:spPr>
        <p:txBody>
          <a:bodyPr wrap="square" rtlCol="0">
            <a:spAutoFit/>
          </a:bodyPr>
          <a:lstStyle/>
          <a:p>
            <a:r>
              <a:rPr lang="en-IN" dirty="0"/>
              <a:t>Ha=200</a:t>
            </a:r>
          </a:p>
        </p:txBody>
      </p:sp>
      <p:cxnSp>
        <p:nvCxnSpPr>
          <p:cNvPr id="29" name="Straight Connector 28"/>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65132539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D519439-ABC6-3DD8-1DEB-7A7DC6B2AFC1}"/>
              </a:ext>
            </a:extLst>
          </p:cNvPr>
          <p:cNvSpPr>
            <a:spLocks noGrp="1"/>
          </p:cNvSpPr>
          <p:nvPr>
            <p:ph type="title"/>
          </p:nvPr>
        </p:nvSpPr>
        <p:spPr>
          <a:xfrm>
            <a:off x="838200" y="0"/>
            <a:ext cx="10515600" cy="867747"/>
          </a:xfrm>
        </p:spPr>
        <p:txBody>
          <a:bodyPr>
            <a:normAutofit/>
          </a:bodyPr>
          <a:lstStyle/>
          <a:p>
            <a:pPr algn="ctr"/>
            <a:r>
              <a:rPr lang="en-IN" sz="3600" b="1" dirty="0">
                <a:latin typeface="Times New Roman" panose="02020603050405020304" pitchFamily="18" charset="0"/>
                <a:cs typeface="Times New Roman" panose="02020603050405020304" pitchFamily="18" charset="0"/>
              </a:rPr>
              <a:t>Z- Vorticity : Re 1000</a:t>
            </a:r>
          </a:p>
        </p:txBody>
      </p:sp>
      <p:sp>
        <p:nvSpPr>
          <p:cNvPr id="3" name="Slide Number Placeholder 2">
            <a:extLst>
              <a:ext uri="{FF2B5EF4-FFF2-40B4-BE49-F238E27FC236}">
                <a16:creationId xmlns:a16="http://schemas.microsoft.com/office/drawing/2014/main" id="{3E2E9E81-7677-AD03-7BBE-357142B3A480}"/>
              </a:ext>
            </a:extLst>
          </p:cNvPr>
          <p:cNvSpPr>
            <a:spLocks noGrp="1"/>
          </p:cNvSpPr>
          <p:nvPr>
            <p:ph type="sldNum" sz="quarter" idx="10"/>
          </p:nvPr>
        </p:nvSpPr>
        <p:spPr/>
        <p:txBody>
          <a:bodyPr/>
          <a:lstStyle/>
          <a:p>
            <a:fld id="{98045765-9D82-4A4A-9458-B21A2E924861}" type="slidenum">
              <a:rPr lang="en-US" smtClean="0"/>
              <a:t>9</a:t>
            </a:fld>
            <a:endParaRPr lang="en-US"/>
          </a:p>
        </p:txBody>
      </p:sp>
      <p:pic>
        <p:nvPicPr>
          <p:cNvPr id="5" name="Picture 4">
            <a:extLst>
              <a:ext uri="{FF2B5EF4-FFF2-40B4-BE49-F238E27FC236}">
                <a16:creationId xmlns:a16="http://schemas.microsoft.com/office/drawing/2014/main" id="{A23A07F6-D730-99B4-5647-6E70B9EE731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586399" y="1431650"/>
            <a:ext cx="1931228" cy="1716282"/>
          </a:xfrm>
          <a:prstGeom prst="rect">
            <a:avLst/>
          </a:prstGeom>
        </p:spPr>
      </p:pic>
      <p:pic>
        <p:nvPicPr>
          <p:cNvPr id="7" name="Picture 6">
            <a:extLst>
              <a:ext uri="{FF2B5EF4-FFF2-40B4-BE49-F238E27FC236}">
                <a16:creationId xmlns:a16="http://schemas.microsoft.com/office/drawing/2014/main" id="{43F4EAE8-9559-7693-346D-DCBD20408958}"/>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873350" y="1431649"/>
            <a:ext cx="1931229" cy="1716283"/>
          </a:xfrm>
          <a:prstGeom prst="rect">
            <a:avLst/>
          </a:prstGeom>
        </p:spPr>
      </p:pic>
      <p:pic>
        <p:nvPicPr>
          <p:cNvPr id="9" name="Picture 8">
            <a:extLst>
              <a:ext uri="{FF2B5EF4-FFF2-40B4-BE49-F238E27FC236}">
                <a16:creationId xmlns:a16="http://schemas.microsoft.com/office/drawing/2014/main" id="{B49B27E6-18F7-B6F3-DDD2-13CC95FB4BC4}"/>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167384" y="1429984"/>
            <a:ext cx="1931229" cy="1716284"/>
          </a:xfrm>
          <a:prstGeom prst="rect">
            <a:avLst/>
          </a:prstGeom>
        </p:spPr>
      </p:pic>
      <p:pic>
        <p:nvPicPr>
          <p:cNvPr id="11" name="Picture 10">
            <a:extLst>
              <a:ext uri="{FF2B5EF4-FFF2-40B4-BE49-F238E27FC236}">
                <a16:creationId xmlns:a16="http://schemas.microsoft.com/office/drawing/2014/main" id="{2483C595-FF68-1C2F-AB2F-561208580B3E}"/>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454336" y="1429985"/>
            <a:ext cx="1931229" cy="1716283"/>
          </a:xfrm>
          <a:prstGeom prst="rect">
            <a:avLst/>
          </a:prstGeom>
        </p:spPr>
      </p:pic>
      <p:pic>
        <p:nvPicPr>
          <p:cNvPr id="13" name="Picture 12">
            <a:extLst>
              <a:ext uri="{FF2B5EF4-FFF2-40B4-BE49-F238E27FC236}">
                <a16:creationId xmlns:a16="http://schemas.microsoft.com/office/drawing/2014/main" id="{CEA2916C-CA27-C713-3D4F-212D021E40DA}"/>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586400" y="3631625"/>
            <a:ext cx="1931227" cy="1716282"/>
          </a:xfrm>
          <a:prstGeom prst="rect">
            <a:avLst/>
          </a:prstGeom>
        </p:spPr>
      </p:pic>
      <p:pic>
        <p:nvPicPr>
          <p:cNvPr id="15" name="Picture 14">
            <a:extLst>
              <a:ext uri="{FF2B5EF4-FFF2-40B4-BE49-F238E27FC236}">
                <a16:creationId xmlns:a16="http://schemas.microsoft.com/office/drawing/2014/main" id="{5CF00527-E9E9-7EF2-DF74-65B51AD75D7C}"/>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3873350" y="3631625"/>
            <a:ext cx="1931229" cy="1716283"/>
          </a:xfrm>
          <a:prstGeom prst="rect">
            <a:avLst/>
          </a:prstGeom>
        </p:spPr>
      </p:pic>
      <p:pic>
        <p:nvPicPr>
          <p:cNvPr id="17" name="Picture 16">
            <a:extLst>
              <a:ext uri="{FF2B5EF4-FFF2-40B4-BE49-F238E27FC236}">
                <a16:creationId xmlns:a16="http://schemas.microsoft.com/office/drawing/2014/main" id="{69128FBB-696C-91F5-741F-AED931B9196D}"/>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6167384" y="3631622"/>
            <a:ext cx="1931231" cy="1716285"/>
          </a:xfrm>
          <a:prstGeom prst="rect">
            <a:avLst/>
          </a:prstGeom>
        </p:spPr>
      </p:pic>
      <p:pic>
        <p:nvPicPr>
          <p:cNvPr id="19" name="Picture 18">
            <a:extLst>
              <a:ext uri="{FF2B5EF4-FFF2-40B4-BE49-F238E27FC236}">
                <a16:creationId xmlns:a16="http://schemas.microsoft.com/office/drawing/2014/main" id="{9F33B319-3C4B-FE8A-C2D4-710BF356B3A1}"/>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8454334" y="3631621"/>
            <a:ext cx="1931231" cy="1716285"/>
          </a:xfrm>
          <a:prstGeom prst="rect">
            <a:avLst/>
          </a:prstGeom>
        </p:spPr>
      </p:pic>
      <p:sp>
        <p:nvSpPr>
          <p:cNvPr id="20" name="TextBox 19">
            <a:extLst>
              <a:ext uri="{FF2B5EF4-FFF2-40B4-BE49-F238E27FC236}">
                <a16:creationId xmlns:a16="http://schemas.microsoft.com/office/drawing/2014/main" id="{EE7B3BF9-8BE1-3101-776E-9E9A182172BC}"/>
              </a:ext>
            </a:extLst>
          </p:cNvPr>
          <p:cNvSpPr txBox="1"/>
          <p:nvPr/>
        </p:nvSpPr>
        <p:spPr>
          <a:xfrm>
            <a:off x="2260620" y="3163551"/>
            <a:ext cx="1333849" cy="369332"/>
          </a:xfrm>
          <a:prstGeom prst="rect">
            <a:avLst/>
          </a:prstGeom>
          <a:noFill/>
        </p:spPr>
        <p:txBody>
          <a:bodyPr wrap="square" rtlCol="0">
            <a:spAutoFit/>
          </a:bodyPr>
          <a:lstStyle/>
          <a:p>
            <a:r>
              <a:rPr lang="en-IN" dirty="0"/>
              <a:t>Ha=0</a:t>
            </a:r>
          </a:p>
        </p:txBody>
      </p:sp>
      <p:sp>
        <p:nvSpPr>
          <p:cNvPr id="21" name="TextBox 20">
            <a:extLst>
              <a:ext uri="{FF2B5EF4-FFF2-40B4-BE49-F238E27FC236}">
                <a16:creationId xmlns:a16="http://schemas.microsoft.com/office/drawing/2014/main" id="{0F7FF907-1913-0344-F3B7-E627AD8F2F5A}"/>
              </a:ext>
            </a:extLst>
          </p:cNvPr>
          <p:cNvSpPr txBox="1"/>
          <p:nvPr/>
        </p:nvSpPr>
        <p:spPr>
          <a:xfrm>
            <a:off x="4512546" y="3146268"/>
            <a:ext cx="1333849" cy="369332"/>
          </a:xfrm>
          <a:prstGeom prst="rect">
            <a:avLst/>
          </a:prstGeom>
          <a:noFill/>
        </p:spPr>
        <p:txBody>
          <a:bodyPr wrap="square" rtlCol="0">
            <a:spAutoFit/>
          </a:bodyPr>
          <a:lstStyle/>
          <a:p>
            <a:r>
              <a:rPr lang="en-IN" dirty="0"/>
              <a:t>Ha=25</a:t>
            </a:r>
          </a:p>
        </p:txBody>
      </p:sp>
      <p:sp>
        <p:nvSpPr>
          <p:cNvPr id="22" name="TextBox 21">
            <a:extLst>
              <a:ext uri="{FF2B5EF4-FFF2-40B4-BE49-F238E27FC236}">
                <a16:creationId xmlns:a16="http://schemas.microsoft.com/office/drawing/2014/main" id="{D8A68D02-6791-5380-C9EB-A94F5ADE9B3D}"/>
              </a:ext>
            </a:extLst>
          </p:cNvPr>
          <p:cNvSpPr txBox="1"/>
          <p:nvPr/>
        </p:nvSpPr>
        <p:spPr>
          <a:xfrm>
            <a:off x="6669689" y="3146268"/>
            <a:ext cx="1333849" cy="369332"/>
          </a:xfrm>
          <a:prstGeom prst="rect">
            <a:avLst/>
          </a:prstGeom>
          <a:noFill/>
        </p:spPr>
        <p:txBody>
          <a:bodyPr wrap="square" rtlCol="0">
            <a:spAutoFit/>
          </a:bodyPr>
          <a:lstStyle/>
          <a:p>
            <a:r>
              <a:rPr lang="en-IN" dirty="0"/>
              <a:t>Ha=50</a:t>
            </a:r>
          </a:p>
        </p:txBody>
      </p:sp>
      <p:sp>
        <p:nvSpPr>
          <p:cNvPr id="23" name="TextBox 22">
            <a:extLst>
              <a:ext uri="{FF2B5EF4-FFF2-40B4-BE49-F238E27FC236}">
                <a16:creationId xmlns:a16="http://schemas.microsoft.com/office/drawing/2014/main" id="{6EF0308A-C136-5ACF-FF06-B2A5F47C6C55}"/>
              </a:ext>
            </a:extLst>
          </p:cNvPr>
          <p:cNvSpPr txBox="1"/>
          <p:nvPr/>
        </p:nvSpPr>
        <p:spPr>
          <a:xfrm>
            <a:off x="9061503" y="3146268"/>
            <a:ext cx="1333849" cy="369332"/>
          </a:xfrm>
          <a:prstGeom prst="rect">
            <a:avLst/>
          </a:prstGeom>
          <a:noFill/>
        </p:spPr>
        <p:txBody>
          <a:bodyPr wrap="square" rtlCol="0">
            <a:spAutoFit/>
          </a:bodyPr>
          <a:lstStyle/>
          <a:p>
            <a:r>
              <a:rPr lang="en-IN" dirty="0"/>
              <a:t>Ha=75</a:t>
            </a:r>
          </a:p>
        </p:txBody>
      </p:sp>
      <p:sp>
        <p:nvSpPr>
          <p:cNvPr id="24" name="TextBox 23">
            <a:extLst>
              <a:ext uri="{FF2B5EF4-FFF2-40B4-BE49-F238E27FC236}">
                <a16:creationId xmlns:a16="http://schemas.microsoft.com/office/drawing/2014/main" id="{8D4C0782-9074-876A-798A-E17758CC1152}"/>
              </a:ext>
            </a:extLst>
          </p:cNvPr>
          <p:cNvSpPr txBox="1"/>
          <p:nvPr/>
        </p:nvSpPr>
        <p:spPr>
          <a:xfrm>
            <a:off x="2203436" y="5347906"/>
            <a:ext cx="1333849" cy="369332"/>
          </a:xfrm>
          <a:prstGeom prst="rect">
            <a:avLst/>
          </a:prstGeom>
          <a:noFill/>
        </p:spPr>
        <p:txBody>
          <a:bodyPr wrap="square" rtlCol="0">
            <a:spAutoFit/>
          </a:bodyPr>
          <a:lstStyle/>
          <a:p>
            <a:r>
              <a:rPr lang="en-IN" dirty="0"/>
              <a:t>Ha=100</a:t>
            </a:r>
          </a:p>
        </p:txBody>
      </p:sp>
      <p:sp>
        <p:nvSpPr>
          <p:cNvPr id="25" name="TextBox 24">
            <a:extLst>
              <a:ext uri="{FF2B5EF4-FFF2-40B4-BE49-F238E27FC236}">
                <a16:creationId xmlns:a16="http://schemas.microsoft.com/office/drawing/2014/main" id="{4C1ED5CA-F04B-23E1-B897-57675E12D660}"/>
              </a:ext>
            </a:extLst>
          </p:cNvPr>
          <p:cNvSpPr txBox="1"/>
          <p:nvPr/>
        </p:nvSpPr>
        <p:spPr>
          <a:xfrm>
            <a:off x="4491056" y="5347906"/>
            <a:ext cx="1333849" cy="369332"/>
          </a:xfrm>
          <a:prstGeom prst="rect">
            <a:avLst/>
          </a:prstGeom>
          <a:noFill/>
        </p:spPr>
        <p:txBody>
          <a:bodyPr wrap="square" rtlCol="0">
            <a:spAutoFit/>
          </a:bodyPr>
          <a:lstStyle/>
          <a:p>
            <a:r>
              <a:rPr lang="en-IN" dirty="0"/>
              <a:t>Ha=125</a:t>
            </a:r>
          </a:p>
        </p:txBody>
      </p:sp>
      <p:sp>
        <p:nvSpPr>
          <p:cNvPr id="26" name="TextBox 25">
            <a:extLst>
              <a:ext uri="{FF2B5EF4-FFF2-40B4-BE49-F238E27FC236}">
                <a16:creationId xmlns:a16="http://schemas.microsoft.com/office/drawing/2014/main" id="{4A2AA9E8-A334-0F0B-5D97-7FA869C2E416}"/>
              </a:ext>
            </a:extLst>
          </p:cNvPr>
          <p:cNvSpPr txBox="1"/>
          <p:nvPr/>
        </p:nvSpPr>
        <p:spPr>
          <a:xfrm>
            <a:off x="6669689" y="5347906"/>
            <a:ext cx="1333849" cy="369332"/>
          </a:xfrm>
          <a:prstGeom prst="rect">
            <a:avLst/>
          </a:prstGeom>
          <a:noFill/>
        </p:spPr>
        <p:txBody>
          <a:bodyPr wrap="square" rtlCol="0">
            <a:spAutoFit/>
          </a:bodyPr>
          <a:lstStyle/>
          <a:p>
            <a:r>
              <a:rPr lang="en-IN" dirty="0"/>
              <a:t>Ha=150</a:t>
            </a:r>
          </a:p>
        </p:txBody>
      </p:sp>
      <p:sp>
        <p:nvSpPr>
          <p:cNvPr id="27" name="TextBox 26">
            <a:extLst>
              <a:ext uri="{FF2B5EF4-FFF2-40B4-BE49-F238E27FC236}">
                <a16:creationId xmlns:a16="http://schemas.microsoft.com/office/drawing/2014/main" id="{8BD5DF1C-E7C0-529F-03D3-F2A41F5D4646}"/>
              </a:ext>
            </a:extLst>
          </p:cNvPr>
          <p:cNvSpPr txBox="1"/>
          <p:nvPr/>
        </p:nvSpPr>
        <p:spPr>
          <a:xfrm>
            <a:off x="8976215" y="5368803"/>
            <a:ext cx="1333849" cy="369332"/>
          </a:xfrm>
          <a:prstGeom prst="rect">
            <a:avLst/>
          </a:prstGeom>
          <a:noFill/>
        </p:spPr>
        <p:txBody>
          <a:bodyPr wrap="square" rtlCol="0">
            <a:spAutoFit/>
          </a:bodyPr>
          <a:lstStyle/>
          <a:p>
            <a:r>
              <a:rPr lang="en-IN" dirty="0"/>
              <a:t>Ha=200</a:t>
            </a:r>
          </a:p>
        </p:txBody>
      </p:sp>
      <p:cxnSp>
        <p:nvCxnSpPr>
          <p:cNvPr id="28" name="Straight Connector 27"/>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044540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138EE04E-6799-37F9-CF11-5CE3C1143A05}"/>
              </a:ext>
            </a:extLst>
          </p:cNvPr>
          <p:cNvSpPr>
            <a:spLocks noGrp="1"/>
          </p:cNvSpPr>
          <p:nvPr>
            <p:ph type="sldNum" sz="quarter" idx="10"/>
          </p:nvPr>
        </p:nvSpPr>
        <p:spPr/>
        <p:txBody>
          <a:bodyPr/>
          <a:lstStyle/>
          <a:p>
            <a:fld id="{98045765-9D82-4A4A-9458-B21A2E924861}" type="slidenum">
              <a:rPr lang="en-US" smtClean="0"/>
              <a:t>10</a:t>
            </a:fld>
            <a:endParaRPr lang="en-US"/>
          </a:p>
        </p:txBody>
      </p:sp>
      <p:sp>
        <p:nvSpPr>
          <p:cNvPr id="5" name="TextBox 4">
            <a:extLst>
              <a:ext uri="{FF2B5EF4-FFF2-40B4-BE49-F238E27FC236}">
                <a16:creationId xmlns:a16="http://schemas.microsoft.com/office/drawing/2014/main" id="{13245D74-4DFF-5FF8-6009-AE3A02EE71DE}"/>
              </a:ext>
            </a:extLst>
          </p:cNvPr>
          <p:cNvSpPr txBox="1"/>
          <p:nvPr/>
        </p:nvSpPr>
        <p:spPr>
          <a:xfrm>
            <a:off x="1730793" y="672106"/>
            <a:ext cx="9208176" cy="523220"/>
          </a:xfrm>
          <a:prstGeom prst="rect">
            <a:avLst/>
          </a:prstGeom>
          <a:noFill/>
        </p:spPr>
        <p:txBody>
          <a:bodyPr wrap="square" rtlCol="0">
            <a:spAutoFit/>
          </a:bodyPr>
          <a:lstStyle/>
          <a:p>
            <a:pPr marL="285750" indent="-285750">
              <a:buFont typeface="Wingdings" panose="05000000000000000000" pitchFamily="2" charset="2"/>
              <a:buChar char="ü"/>
            </a:pPr>
            <a:r>
              <a:rPr lang="en-IN" sz="1400" dirty="0"/>
              <a:t>Re = 10,000, a similar suppression trend is observed: pronounced vortex shedding at low Ha transitions to smoother, symmetric vorticity fields by Ha ≈ 75, and it complete disappears for Ha&gt;150.</a:t>
            </a:r>
          </a:p>
        </p:txBody>
      </p:sp>
      <p:pic>
        <p:nvPicPr>
          <p:cNvPr id="4" name="Picture 3">
            <a:extLst>
              <a:ext uri="{FF2B5EF4-FFF2-40B4-BE49-F238E27FC236}">
                <a16:creationId xmlns:a16="http://schemas.microsoft.com/office/drawing/2014/main" id="{5824CD4E-8983-77F7-D8F3-8FA7924AD8DF}"/>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271356" y="1185333"/>
            <a:ext cx="2267380" cy="2015952"/>
          </a:xfrm>
          <a:prstGeom prst="rect">
            <a:avLst/>
          </a:prstGeom>
        </p:spPr>
      </p:pic>
      <p:pic>
        <p:nvPicPr>
          <p:cNvPr id="7" name="Picture 6">
            <a:extLst>
              <a:ext uri="{FF2B5EF4-FFF2-40B4-BE49-F238E27FC236}">
                <a16:creationId xmlns:a16="http://schemas.microsoft.com/office/drawing/2014/main" id="{C5A0853B-A087-0DD9-2130-40CA6756255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602472" y="1185333"/>
            <a:ext cx="2267380" cy="2015952"/>
          </a:xfrm>
          <a:prstGeom prst="rect">
            <a:avLst/>
          </a:prstGeom>
        </p:spPr>
      </p:pic>
      <p:pic>
        <p:nvPicPr>
          <p:cNvPr id="9" name="Picture 8">
            <a:extLst>
              <a:ext uri="{FF2B5EF4-FFF2-40B4-BE49-F238E27FC236}">
                <a16:creationId xmlns:a16="http://schemas.microsoft.com/office/drawing/2014/main" id="{79F34A14-A032-F23E-F90F-FB1594ED48BD}"/>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933588" y="1185333"/>
            <a:ext cx="2267380" cy="2015952"/>
          </a:xfrm>
          <a:prstGeom prst="rect">
            <a:avLst/>
          </a:prstGeom>
        </p:spPr>
      </p:pic>
      <p:pic>
        <p:nvPicPr>
          <p:cNvPr id="11" name="Picture 10">
            <a:extLst>
              <a:ext uri="{FF2B5EF4-FFF2-40B4-BE49-F238E27FC236}">
                <a16:creationId xmlns:a16="http://schemas.microsoft.com/office/drawing/2014/main" id="{CCBC5310-C36A-3426-E0DB-E6CEE0342951}"/>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280637" y="1185334"/>
            <a:ext cx="2267380" cy="2015952"/>
          </a:xfrm>
          <a:prstGeom prst="rect">
            <a:avLst/>
          </a:prstGeom>
        </p:spPr>
      </p:pic>
      <p:pic>
        <p:nvPicPr>
          <p:cNvPr id="13" name="Picture 12">
            <a:extLst>
              <a:ext uri="{FF2B5EF4-FFF2-40B4-BE49-F238E27FC236}">
                <a16:creationId xmlns:a16="http://schemas.microsoft.com/office/drawing/2014/main" id="{79BEBA5B-83D0-4A09-9D93-8971AD66123A}"/>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271356" y="3607365"/>
            <a:ext cx="2267380" cy="2015952"/>
          </a:xfrm>
          <a:prstGeom prst="rect">
            <a:avLst/>
          </a:prstGeom>
        </p:spPr>
      </p:pic>
      <p:pic>
        <p:nvPicPr>
          <p:cNvPr id="15" name="Picture 14">
            <a:extLst>
              <a:ext uri="{FF2B5EF4-FFF2-40B4-BE49-F238E27FC236}">
                <a16:creationId xmlns:a16="http://schemas.microsoft.com/office/drawing/2014/main" id="{AE8DB8C9-7E06-4994-2066-18435E431059}"/>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3602473" y="3607365"/>
            <a:ext cx="2267380" cy="2015952"/>
          </a:xfrm>
          <a:prstGeom prst="rect">
            <a:avLst/>
          </a:prstGeom>
        </p:spPr>
      </p:pic>
      <p:pic>
        <p:nvPicPr>
          <p:cNvPr id="17" name="Picture 16">
            <a:extLst>
              <a:ext uri="{FF2B5EF4-FFF2-40B4-BE49-F238E27FC236}">
                <a16:creationId xmlns:a16="http://schemas.microsoft.com/office/drawing/2014/main" id="{738F54C0-1BDC-8D4A-9BB6-0A4DF38247B5}"/>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5933588" y="3607365"/>
            <a:ext cx="2267380" cy="2015951"/>
          </a:xfrm>
          <a:prstGeom prst="rect">
            <a:avLst/>
          </a:prstGeom>
        </p:spPr>
      </p:pic>
      <p:pic>
        <p:nvPicPr>
          <p:cNvPr id="19" name="Picture 18">
            <a:extLst>
              <a:ext uri="{FF2B5EF4-FFF2-40B4-BE49-F238E27FC236}">
                <a16:creationId xmlns:a16="http://schemas.microsoft.com/office/drawing/2014/main" id="{882CE278-DAA1-4D37-A1D8-A421A3A15071}"/>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8264703" y="3607365"/>
            <a:ext cx="2283314" cy="2030119"/>
          </a:xfrm>
          <a:prstGeom prst="rect">
            <a:avLst/>
          </a:prstGeom>
        </p:spPr>
      </p:pic>
      <p:sp>
        <p:nvSpPr>
          <p:cNvPr id="20" name="TextBox 19">
            <a:extLst>
              <a:ext uri="{FF2B5EF4-FFF2-40B4-BE49-F238E27FC236}">
                <a16:creationId xmlns:a16="http://schemas.microsoft.com/office/drawing/2014/main" id="{C3430BF6-C4D0-2FE9-55B3-9483E1671AFB}"/>
              </a:ext>
            </a:extLst>
          </p:cNvPr>
          <p:cNvSpPr txBox="1"/>
          <p:nvPr/>
        </p:nvSpPr>
        <p:spPr>
          <a:xfrm>
            <a:off x="2053309" y="3201285"/>
            <a:ext cx="1278467" cy="369332"/>
          </a:xfrm>
          <a:prstGeom prst="rect">
            <a:avLst/>
          </a:prstGeom>
          <a:noFill/>
        </p:spPr>
        <p:txBody>
          <a:bodyPr wrap="square" rtlCol="0">
            <a:spAutoFit/>
          </a:bodyPr>
          <a:lstStyle/>
          <a:p>
            <a:r>
              <a:rPr lang="en-IN" dirty="0"/>
              <a:t>Ha=0</a:t>
            </a:r>
          </a:p>
        </p:txBody>
      </p:sp>
      <p:sp>
        <p:nvSpPr>
          <p:cNvPr id="21" name="TextBox 20">
            <a:extLst>
              <a:ext uri="{FF2B5EF4-FFF2-40B4-BE49-F238E27FC236}">
                <a16:creationId xmlns:a16="http://schemas.microsoft.com/office/drawing/2014/main" id="{F88EEFC4-D4D0-1D96-6996-2250FD30A2FD}"/>
              </a:ext>
            </a:extLst>
          </p:cNvPr>
          <p:cNvSpPr txBox="1"/>
          <p:nvPr/>
        </p:nvSpPr>
        <p:spPr>
          <a:xfrm>
            <a:off x="4384425" y="3225320"/>
            <a:ext cx="1278467" cy="369332"/>
          </a:xfrm>
          <a:prstGeom prst="rect">
            <a:avLst/>
          </a:prstGeom>
          <a:noFill/>
        </p:spPr>
        <p:txBody>
          <a:bodyPr wrap="square" rtlCol="0">
            <a:spAutoFit/>
          </a:bodyPr>
          <a:lstStyle/>
          <a:p>
            <a:r>
              <a:rPr lang="en-IN" dirty="0"/>
              <a:t>Ha=25</a:t>
            </a:r>
          </a:p>
        </p:txBody>
      </p:sp>
      <p:sp>
        <p:nvSpPr>
          <p:cNvPr id="22" name="TextBox 21">
            <a:extLst>
              <a:ext uri="{FF2B5EF4-FFF2-40B4-BE49-F238E27FC236}">
                <a16:creationId xmlns:a16="http://schemas.microsoft.com/office/drawing/2014/main" id="{B1F9260A-E984-6515-7807-183FD24F146A}"/>
              </a:ext>
            </a:extLst>
          </p:cNvPr>
          <p:cNvSpPr txBox="1"/>
          <p:nvPr/>
        </p:nvSpPr>
        <p:spPr>
          <a:xfrm>
            <a:off x="6673948" y="3184633"/>
            <a:ext cx="1278467" cy="369332"/>
          </a:xfrm>
          <a:prstGeom prst="rect">
            <a:avLst/>
          </a:prstGeom>
          <a:noFill/>
        </p:spPr>
        <p:txBody>
          <a:bodyPr wrap="square" rtlCol="0">
            <a:spAutoFit/>
          </a:bodyPr>
          <a:lstStyle/>
          <a:p>
            <a:r>
              <a:rPr lang="en-IN" dirty="0"/>
              <a:t>Ha=50</a:t>
            </a:r>
          </a:p>
        </p:txBody>
      </p:sp>
      <p:sp>
        <p:nvSpPr>
          <p:cNvPr id="23" name="TextBox 22">
            <a:extLst>
              <a:ext uri="{FF2B5EF4-FFF2-40B4-BE49-F238E27FC236}">
                <a16:creationId xmlns:a16="http://schemas.microsoft.com/office/drawing/2014/main" id="{167CC773-13F7-449F-E42A-C6B6212EBCE7}"/>
              </a:ext>
            </a:extLst>
          </p:cNvPr>
          <p:cNvSpPr txBox="1"/>
          <p:nvPr/>
        </p:nvSpPr>
        <p:spPr>
          <a:xfrm>
            <a:off x="9084733" y="3186178"/>
            <a:ext cx="1278467" cy="369332"/>
          </a:xfrm>
          <a:prstGeom prst="rect">
            <a:avLst/>
          </a:prstGeom>
          <a:noFill/>
        </p:spPr>
        <p:txBody>
          <a:bodyPr wrap="square" rtlCol="0">
            <a:spAutoFit/>
          </a:bodyPr>
          <a:lstStyle/>
          <a:p>
            <a:r>
              <a:rPr lang="en-IN" dirty="0"/>
              <a:t>Ha=75</a:t>
            </a:r>
          </a:p>
        </p:txBody>
      </p:sp>
      <p:sp>
        <p:nvSpPr>
          <p:cNvPr id="24" name="TextBox 23">
            <a:extLst>
              <a:ext uri="{FF2B5EF4-FFF2-40B4-BE49-F238E27FC236}">
                <a16:creationId xmlns:a16="http://schemas.microsoft.com/office/drawing/2014/main" id="{F10BB326-F9EE-2542-A059-5D75A56AA0BC}"/>
              </a:ext>
            </a:extLst>
          </p:cNvPr>
          <p:cNvSpPr txBox="1"/>
          <p:nvPr/>
        </p:nvSpPr>
        <p:spPr>
          <a:xfrm>
            <a:off x="1948737" y="5637484"/>
            <a:ext cx="1278467" cy="369332"/>
          </a:xfrm>
          <a:prstGeom prst="rect">
            <a:avLst/>
          </a:prstGeom>
          <a:noFill/>
        </p:spPr>
        <p:txBody>
          <a:bodyPr wrap="square" rtlCol="0">
            <a:spAutoFit/>
          </a:bodyPr>
          <a:lstStyle/>
          <a:p>
            <a:r>
              <a:rPr lang="en-IN" dirty="0"/>
              <a:t>Ha=100</a:t>
            </a:r>
          </a:p>
        </p:txBody>
      </p:sp>
      <p:sp>
        <p:nvSpPr>
          <p:cNvPr id="25" name="TextBox 24">
            <a:extLst>
              <a:ext uri="{FF2B5EF4-FFF2-40B4-BE49-F238E27FC236}">
                <a16:creationId xmlns:a16="http://schemas.microsoft.com/office/drawing/2014/main" id="{32D1B93C-BED8-FA0C-4579-C6ACAEB5A595}"/>
              </a:ext>
            </a:extLst>
          </p:cNvPr>
          <p:cNvSpPr txBox="1"/>
          <p:nvPr/>
        </p:nvSpPr>
        <p:spPr>
          <a:xfrm>
            <a:off x="4290191" y="5609603"/>
            <a:ext cx="1278467" cy="369332"/>
          </a:xfrm>
          <a:prstGeom prst="rect">
            <a:avLst/>
          </a:prstGeom>
          <a:noFill/>
        </p:spPr>
        <p:txBody>
          <a:bodyPr wrap="square" rtlCol="0">
            <a:spAutoFit/>
          </a:bodyPr>
          <a:lstStyle/>
          <a:p>
            <a:r>
              <a:rPr lang="en-IN" dirty="0"/>
              <a:t>Ha=125</a:t>
            </a:r>
          </a:p>
        </p:txBody>
      </p:sp>
      <p:sp>
        <p:nvSpPr>
          <p:cNvPr id="26" name="TextBox 25">
            <a:extLst>
              <a:ext uri="{FF2B5EF4-FFF2-40B4-BE49-F238E27FC236}">
                <a16:creationId xmlns:a16="http://schemas.microsoft.com/office/drawing/2014/main" id="{ADC87482-CF19-DBEF-8965-6953D1D4828B}"/>
              </a:ext>
            </a:extLst>
          </p:cNvPr>
          <p:cNvSpPr txBox="1"/>
          <p:nvPr/>
        </p:nvSpPr>
        <p:spPr>
          <a:xfrm>
            <a:off x="6685041" y="5605952"/>
            <a:ext cx="1278467" cy="369332"/>
          </a:xfrm>
          <a:prstGeom prst="rect">
            <a:avLst/>
          </a:prstGeom>
          <a:noFill/>
        </p:spPr>
        <p:txBody>
          <a:bodyPr wrap="square" rtlCol="0">
            <a:spAutoFit/>
          </a:bodyPr>
          <a:lstStyle/>
          <a:p>
            <a:r>
              <a:rPr lang="en-IN" dirty="0"/>
              <a:t>Ha=150</a:t>
            </a:r>
          </a:p>
        </p:txBody>
      </p:sp>
      <p:sp>
        <p:nvSpPr>
          <p:cNvPr id="27" name="TextBox 26">
            <a:extLst>
              <a:ext uri="{FF2B5EF4-FFF2-40B4-BE49-F238E27FC236}">
                <a16:creationId xmlns:a16="http://schemas.microsoft.com/office/drawing/2014/main" id="{6C5F5D8C-B823-C5C5-58C7-42DDB4E86832}"/>
              </a:ext>
            </a:extLst>
          </p:cNvPr>
          <p:cNvSpPr txBox="1"/>
          <p:nvPr/>
        </p:nvSpPr>
        <p:spPr>
          <a:xfrm>
            <a:off x="9160933" y="5607268"/>
            <a:ext cx="1278467" cy="369332"/>
          </a:xfrm>
          <a:prstGeom prst="rect">
            <a:avLst/>
          </a:prstGeom>
          <a:noFill/>
        </p:spPr>
        <p:txBody>
          <a:bodyPr wrap="square" rtlCol="0">
            <a:spAutoFit/>
          </a:bodyPr>
          <a:lstStyle/>
          <a:p>
            <a:r>
              <a:rPr lang="en-IN" dirty="0"/>
              <a:t>Ha=200</a:t>
            </a:r>
          </a:p>
        </p:txBody>
      </p:sp>
      <p:cxnSp>
        <p:nvCxnSpPr>
          <p:cNvPr id="28" name="Straight Connector 27"/>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954862" y="25775"/>
            <a:ext cx="4549322" cy="646331"/>
          </a:xfrm>
          <a:prstGeom prst="rect">
            <a:avLst/>
          </a:prstGeom>
        </p:spPr>
        <p:txBody>
          <a:bodyPr wrap="none">
            <a:spAutoFit/>
          </a:bodyPr>
          <a:lstStyle/>
          <a:p>
            <a:r>
              <a:rPr lang="en-IN" sz="3600" b="1" dirty="0">
                <a:latin typeface="Times New Roman" panose="02020603050405020304" pitchFamily="18" charset="0"/>
                <a:ea typeface="+mj-ea"/>
                <a:cs typeface="Times New Roman" panose="02020603050405020304" pitchFamily="18" charset="0"/>
              </a:rPr>
              <a:t>Streamlines, Re 10000</a:t>
            </a:r>
            <a:endParaRPr lang="en-US" dirty="0"/>
          </a:p>
        </p:txBody>
      </p:sp>
    </p:spTree>
    <p:extLst>
      <p:ext uri="{BB962C8B-B14F-4D97-AF65-F5344CB8AC3E}">
        <p14:creationId xmlns:p14="http://schemas.microsoft.com/office/powerpoint/2010/main" val="26308460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9CA22EA6-ECE9-E456-BE46-E688DFCFEDC4}"/>
              </a:ext>
            </a:extLst>
          </p:cNvPr>
          <p:cNvSpPr>
            <a:spLocks noGrp="1"/>
          </p:cNvSpPr>
          <p:nvPr>
            <p:ph type="sldNum" sz="quarter" idx="10"/>
          </p:nvPr>
        </p:nvSpPr>
        <p:spPr/>
        <p:txBody>
          <a:bodyPr/>
          <a:lstStyle/>
          <a:p>
            <a:fld id="{98045765-9D82-4A4A-9458-B21A2E924861}" type="slidenum">
              <a:rPr lang="en-US" smtClean="0"/>
              <a:t>11</a:t>
            </a:fld>
            <a:endParaRPr lang="en-US"/>
          </a:p>
        </p:txBody>
      </p:sp>
      <p:pic>
        <p:nvPicPr>
          <p:cNvPr id="5" name="Picture 4">
            <a:extLst>
              <a:ext uri="{FF2B5EF4-FFF2-40B4-BE49-F238E27FC236}">
                <a16:creationId xmlns:a16="http://schemas.microsoft.com/office/drawing/2014/main" id="{AD5A6641-4879-FEB4-C7AA-8A9BA2EF6AF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1960751" y="1506116"/>
            <a:ext cx="1954635" cy="1737085"/>
          </a:xfrm>
          <a:prstGeom prst="rect">
            <a:avLst/>
          </a:prstGeom>
        </p:spPr>
      </p:pic>
      <p:pic>
        <p:nvPicPr>
          <p:cNvPr id="7" name="Picture 6">
            <a:extLst>
              <a:ext uri="{FF2B5EF4-FFF2-40B4-BE49-F238E27FC236}">
                <a16:creationId xmlns:a16="http://schemas.microsoft.com/office/drawing/2014/main" id="{2ED630A9-A821-5AFD-5DA2-940F26E4CB85}"/>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4140667" y="1451104"/>
            <a:ext cx="1954635" cy="1737085"/>
          </a:xfrm>
          <a:prstGeom prst="rect">
            <a:avLst/>
          </a:prstGeom>
        </p:spPr>
      </p:pic>
      <p:pic>
        <p:nvPicPr>
          <p:cNvPr id="9" name="Picture 8">
            <a:extLst>
              <a:ext uri="{FF2B5EF4-FFF2-40B4-BE49-F238E27FC236}">
                <a16:creationId xmlns:a16="http://schemas.microsoft.com/office/drawing/2014/main" id="{D35C0852-163A-C188-BB18-36C616909BB2}"/>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6341379" y="1439193"/>
            <a:ext cx="1954637" cy="1737086"/>
          </a:xfrm>
          <a:prstGeom prst="rect">
            <a:avLst/>
          </a:prstGeom>
        </p:spPr>
      </p:pic>
      <p:pic>
        <p:nvPicPr>
          <p:cNvPr id="15" name="Picture 14">
            <a:extLst>
              <a:ext uri="{FF2B5EF4-FFF2-40B4-BE49-F238E27FC236}">
                <a16:creationId xmlns:a16="http://schemas.microsoft.com/office/drawing/2014/main" id="{A05480FA-7D4C-A4D0-F94E-C944FB17D38E}"/>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542091" y="1439193"/>
            <a:ext cx="1954637" cy="1737086"/>
          </a:xfrm>
          <a:prstGeom prst="rect">
            <a:avLst/>
          </a:prstGeom>
        </p:spPr>
      </p:pic>
      <p:pic>
        <p:nvPicPr>
          <p:cNvPr id="17" name="Picture 16">
            <a:extLst>
              <a:ext uri="{FF2B5EF4-FFF2-40B4-BE49-F238E27FC236}">
                <a16:creationId xmlns:a16="http://schemas.microsoft.com/office/drawing/2014/main" id="{9753E84F-91AA-A130-9D7B-75C202817881}"/>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1939955" y="3653891"/>
            <a:ext cx="1954636" cy="1737085"/>
          </a:xfrm>
          <a:prstGeom prst="rect">
            <a:avLst/>
          </a:prstGeom>
        </p:spPr>
      </p:pic>
      <p:pic>
        <p:nvPicPr>
          <p:cNvPr id="19" name="Picture 18">
            <a:extLst>
              <a:ext uri="{FF2B5EF4-FFF2-40B4-BE49-F238E27FC236}">
                <a16:creationId xmlns:a16="http://schemas.microsoft.com/office/drawing/2014/main" id="{010F349A-019C-9196-2CE6-698C1587865D}"/>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4140667" y="3653891"/>
            <a:ext cx="1954638" cy="1737087"/>
          </a:xfrm>
          <a:prstGeom prst="rect">
            <a:avLst/>
          </a:prstGeom>
        </p:spPr>
      </p:pic>
      <p:pic>
        <p:nvPicPr>
          <p:cNvPr id="21" name="Picture 20">
            <a:extLst>
              <a:ext uri="{FF2B5EF4-FFF2-40B4-BE49-F238E27FC236}">
                <a16:creationId xmlns:a16="http://schemas.microsoft.com/office/drawing/2014/main" id="{F936068C-8194-8288-09AE-9C01D88D0759}"/>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6341377" y="3653888"/>
            <a:ext cx="1954639" cy="1737088"/>
          </a:xfrm>
          <a:prstGeom prst="rect">
            <a:avLst/>
          </a:prstGeom>
        </p:spPr>
      </p:pic>
      <p:pic>
        <p:nvPicPr>
          <p:cNvPr id="23" name="Picture 22">
            <a:extLst>
              <a:ext uri="{FF2B5EF4-FFF2-40B4-BE49-F238E27FC236}">
                <a16:creationId xmlns:a16="http://schemas.microsoft.com/office/drawing/2014/main" id="{AD087319-389E-9E94-4B8C-99171092E4A9}"/>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8542088" y="3653888"/>
            <a:ext cx="1954641" cy="1737089"/>
          </a:xfrm>
          <a:prstGeom prst="rect">
            <a:avLst/>
          </a:prstGeom>
        </p:spPr>
      </p:pic>
      <p:sp>
        <p:nvSpPr>
          <p:cNvPr id="24" name="TextBox 23">
            <a:extLst>
              <a:ext uri="{FF2B5EF4-FFF2-40B4-BE49-F238E27FC236}">
                <a16:creationId xmlns:a16="http://schemas.microsoft.com/office/drawing/2014/main" id="{E9D82FA6-41A9-74E5-C3BA-D5279DCF4A61}"/>
              </a:ext>
            </a:extLst>
          </p:cNvPr>
          <p:cNvSpPr txBox="1"/>
          <p:nvPr/>
        </p:nvSpPr>
        <p:spPr>
          <a:xfrm>
            <a:off x="2623137" y="3170511"/>
            <a:ext cx="1182847" cy="372939"/>
          </a:xfrm>
          <a:prstGeom prst="rect">
            <a:avLst/>
          </a:prstGeom>
          <a:noFill/>
        </p:spPr>
        <p:txBody>
          <a:bodyPr wrap="square" rtlCol="0">
            <a:spAutoFit/>
          </a:bodyPr>
          <a:lstStyle/>
          <a:p>
            <a:r>
              <a:rPr lang="en-IN" dirty="0"/>
              <a:t>Ha=0</a:t>
            </a:r>
          </a:p>
        </p:txBody>
      </p:sp>
      <p:sp>
        <p:nvSpPr>
          <p:cNvPr id="25" name="TextBox 24">
            <a:extLst>
              <a:ext uri="{FF2B5EF4-FFF2-40B4-BE49-F238E27FC236}">
                <a16:creationId xmlns:a16="http://schemas.microsoft.com/office/drawing/2014/main" id="{4E87E6B7-CDD1-5A52-F9DA-15BFA494A073}"/>
              </a:ext>
            </a:extLst>
          </p:cNvPr>
          <p:cNvSpPr txBox="1"/>
          <p:nvPr/>
        </p:nvSpPr>
        <p:spPr>
          <a:xfrm>
            <a:off x="4791778" y="3170511"/>
            <a:ext cx="1182847" cy="372939"/>
          </a:xfrm>
          <a:prstGeom prst="rect">
            <a:avLst/>
          </a:prstGeom>
          <a:noFill/>
        </p:spPr>
        <p:txBody>
          <a:bodyPr wrap="square" rtlCol="0">
            <a:spAutoFit/>
          </a:bodyPr>
          <a:lstStyle/>
          <a:p>
            <a:r>
              <a:rPr lang="en-IN" dirty="0"/>
              <a:t>Ha=25</a:t>
            </a:r>
          </a:p>
        </p:txBody>
      </p:sp>
      <p:sp>
        <p:nvSpPr>
          <p:cNvPr id="26" name="TextBox 25">
            <a:extLst>
              <a:ext uri="{FF2B5EF4-FFF2-40B4-BE49-F238E27FC236}">
                <a16:creationId xmlns:a16="http://schemas.microsoft.com/office/drawing/2014/main" id="{479EE2C7-DD86-FDB3-E37B-7518301D705B}"/>
              </a:ext>
            </a:extLst>
          </p:cNvPr>
          <p:cNvSpPr txBox="1"/>
          <p:nvPr/>
        </p:nvSpPr>
        <p:spPr>
          <a:xfrm>
            <a:off x="6960419" y="3170510"/>
            <a:ext cx="1182847" cy="372939"/>
          </a:xfrm>
          <a:prstGeom prst="rect">
            <a:avLst/>
          </a:prstGeom>
          <a:noFill/>
        </p:spPr>
        <p:txBody>
          <a:bodyPr wrap="square" rtlCol="0">
            <a:spAutoFit/>
          </a:bodyPr>
          <a:lstStyle/>
          <a:p>
            <a:r>
              <a:rPr lang="en-IN" dirty="0"/>
              <a:t>Ha=50</a:t>
            </a:r>
          </a:p>
        </p:txBody>
      </p:sp>
      <p:sp>
        <p:nvSpPr>
          <p:cNvPr id="27" name="TextBox 26">
            <a:extLst>
              <a:ext uri="{FF2B5EF4-FFF2-40B4-BE49-F238E27FC236}">
                <a16:creationId xmlns:a16="http://schemas.microsoft.com/office/drawing/2014/main" id="{8F7FB66A-4FB1-7543-6042-55209D24A901}"/>
              </a:ext>
            </a:extLst>
          </p:cNvPr>
          <p:cNvSpPr txBox="1"/>
          <p:nvPr/>
        </p:nvSpPr>
        <p:spPr>
          <a:xfrm>
            <a:off x="9161133" y="3170510"/>
            <a:ext cx="1182847" cy="372939"/>
          </a:xfrm>
          <a:prstGeom prst="rect">
            <a:avLst/>
          </a:prstGeom>
          <a:noFill/>
        </p:spPr>
        <p:txBody>
          <a:bodyPr wrap="square" rtlCol="0">
            <a:spAutoFit/>
          </a:bodyPr>
          <a:lstStyle/>
          <a:p>
            <a:r>
              <a:rPr lang="en-IN" dirty="0"/>
              <a:t>Ha=75</a:t>
            </a:r>
          </a:p>
        </p:txBody>
      </p:sp>
      <p:sp>
        <p:nvSpPr>
          <p:cNvPr id="28" name="TextBox 27">
            <a:extLst>
              <a:ext uri="{FF2B5EF4-FFF2-40B4-BE49-F238E27FC236}">
                <a16:creationId xmlns:a16="http://schemas.microsoft.com/office/drawing/2014/main" id="{76FA6DBD-6121-7C88-342E-2666F442B0A3}"/>
              </a:ext>
            </a:extLst>
          </p:cNvPr>
          <p:cNvSpPr txBox="1"/>
          <p:nvPr/>
        </p:nvSpPr>
        <p:spPr>
          <a:xfrm>
            <a:off x="2448896" y="5379440"/>
            <a:ext cx="1182847" cy="372939"/>
          </a:xfrm>
          <a:prstGeom prst="rect">
            <a:avLst/>
          </a:prstGeom>
          <a:noFill/>
        </p:spPr>
        <p:txBody>
          <a:bodyPr wrap="square" rtlCol="0">
            <a:spAutoFit/>
          </a:bodyPr>
          <a:lstStyle/>
          <a:p>
            <a:r>
              <a:rPr lang="en-IN" dirty="0"/>
              <a:t>Ha=100</a:t>
            </a:r>
          </a:p>
        </p:txBody>
      </p:sp>
      <p:sp>
        <p:nvSpPr>
          <p:cNvPr id="29" name="TextBox 28">
            <a:extLst>
              <a:ext uri="{FF2B5EF4-FFF2-40B4-BE49-F238E27FC236}">
                <a16:creationId xmlns:a16="http://schemas.microsoft.com/office/drawing/2014/main" id="{87010EFF-7A37-C96F-55C1-019B5305A1DD}"/>
              </a:ext>
            </a:extLst>
          </p:cNvPr>
          <p:cNvSpPr txBox="1"/>
          <p:nvPr/>
        </p:nvSpPr>
        <p:spPr>
          <a:xfrm>
            <a:off x="4855136" y="5379440"/>
            <a:ext cx="1182847" cy="372939"/>
          </a:xfrm>
          <a:prstGeom prst="rect">
            <a:avLst/>
          </a:prstGeom>
          <a:noFill/>
        </p:spPr>
        <p:txBody>
          <a:bodyPr wrap="square" rtlCol="0">
            <a:spAutoFit/>
          </a:bodyPr>
          <a:lstStyle/>
          <a:p>
            <a:r>
              <a:rPr lang="en-IN" dirty="0"/>
              <a:t>Ha=125</a:t>
            </a:r>
          </a:p>
        </p:txBody>
      </p:sp>
      <p:sp>
        <p:nvSpPr>
          <p:cNvPr id="30" name="TextBox 29">
            <a:extLst>
              <a:ext uri="{FF2B5EF4-FFF2-40B4-BE49-F238E27FC236}">
                <a16:creationId xmlns:a16="http://schemas.microsoft.com/office/drawing/2014/main" id="{92519236-B50F-853F-70A9-43F9731FEF14}"/>
              </a:ext>
            </a:extLst>
          </p:cNvPr>
          <p:cNvSpPr txBox="1"/>
          <p:nvPr/>
        </p:nvSpPr>
        <p:spPr>
          <a:xfrm>
            <a:off x="6962167" y="5379441"/>
            <a:ext cx="1182847" cy="372939"/>
          </a:xfrm>
          <a:prstGeom prst="rect">
            <a:avLst/>
          </a:prstGeom>
          <a:noFill/>
        </p:spPr>
        <p:txBody>
          <a:bodyPr wrap="square" rtlCol="0">
            <a:spAutoFit/>
          </a:bodyPr>
          <a:lstStyle/>
          <a:p>
            <a:r>
              <a:rPr lang="en-IN" dirty="0"/>
              <a:t>Ha=150</a:t>
            </a:r>
          </a:p>
        </p:txBody>
      </p:sp>
      <p:sp>
        <p:nvSpPr>
          <p:cNvPr id="31" name="TextBox 30">
            <a:extLst>
              <a:ext uri="{FF2B5EF4-FFF2-40B4-BE49-F238E27FC236}">
                <a16:creationId xmlns:a16="http://schemas.microsoft.com/office/drawing/2014/main" id="{4AC27582-CA9C-9DD4-877E-7BAA5786533C}"/>
              </a:ext>
            </a:extLst>
          </p:cNvPr>
          <p:cNvSpPr txBox="1"/>
          <p:nvPr/>
        </p:nvSpPr>
        <p:spPr>
          <a:xfrm>
            <a:off x="9069198" y="5379442"/>
            <a:ext cx="1182847" cy="372939"/>
          </a:xfrm>
          <a:prstGeom prst="rect">
            <a:avLst/>
          </a:prstGeom>
          <a:noFill/>
        </p:spPr>
        <p:txBody>
          <a:bodyPr wrap="square" rtlCol="0">
            <a:spAutoFit/>
          </a:bodyPr>
          <a:lstStyle/>
          <a:p>
            <a:r>
              <a:rPr lang="en-IN" dirty="0"/>
              <a:t>Ha=200</a:t>
            </a:r>
          </a:p>
        </p:txBody>
      </p:sp>
      <p:cxnSp>
        <p:nvCxnSpPr>
          <p:cNvPr id="20" name="Straight Connector 19"/>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6" name="Rectangle 5"/>
          <p:cNvSpPr/>
          <p:nvPr/>
        </p:nvSpPr>
        <p:spPr>
          <a:xfrm>
            <a:off x="3758476" y="85752"/>
            <a:ext cx="4673652" cy="646331"/>
          </a:xfrm>
          <a:prstGeom prst="rect">
            <a:avLst/>
          </a:prstGeom>
        </p:spPr>
        <p:txBody>
          <a:bodyPr wrap="none">
            <a:spAutoFit/>
          </a:bodyPr>
          <a:lstStyle/>
          <a:p>
            <a:r>
              <a:rPr lang="en-IN" sz="3600" b="1" dirty="0">
                <a:latin typeface="Times New Roman" panose="02020603050405020304" pitchFamily="18" charset="0"/>
                <a:ea typeface="+mj-ea"/>
                <a:cs typeface="Times New Roman" panose="02020603050405020304" pitchFamily="18" charset="0"/>
              </a:rPr>
              <a:t>Z- Vorticity : Re 10000</a:t>
            </a:r>
            <a:endParaRPr lang="en-US" dirty="0"/>
          </a:p>
        </p:txBody>
      </p:sp>
    </p:spTree>
    <p:extLst>
      <p:ext uri="{BB962C8B-B14F-4D97-AF65-F5344CB8AC3E}">
        <p14:creationId xmlns:p14="http://schemas.microsoft.com/office/powerpoint/2010/main" val="29262011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6A868C11-DDBA-3BD7-605E-8BB397D121CA}"/>
              </a:ext>
            </a:extLst>
          </p:cNvPr>
          <p:cNvSpPr>
            <a:spLocks noGrp="1"/>
          </p:cNvSpPr>
          <p:nvPr>
            <p:ph type="sldNum" sz="quarter" idx="10"/>
          </p:nvPr>
        </p:nvSpPr>
        <p:spPr/>
        <p:txBody>
          <a:bodyPr/>
          <a:lstStyle/>
          <a:p>
            <a:fld id="{98045765-9D82-4A4A-9458-B21A2E924861}" type="slidenum">
              <a:rPr lang="en-US" smtClean="0"/>
              <a:t>12</a:t>
            </a:fld>
            <a:endParaRPr lang="en-US"/>
          </a:p>
        </p:txBody>
      </p:sp>
      <p:sp>
        <p:nvSpPr>
          <p:cNvPr id="4" name="TextBox 3">
            <a:extLst>
              <a:ext uri="{FF2B5EF4-FFF2-40B4-BE49-F238E27FC236}">
                <a16:creationId xmlns:a16="http://schemas.microsoft.com/office/drawing/2014/main" id="{147EE478-1B5A-9A86-6223-CF82A37DAEF0}"/>
              </a:ext>
            </a:extLst>
          </p:cNvPr>
          <p:cNvSpPr txBox="1"/>
          <p:nvPr/>
        </p:nvSpPr>
        <p:spPr>
          <a:xfrm>
            <a:off x="1203649" y="590633"/>
            <a:ext cx="10703109" cy="1169551"/>
          </a:xfrm>
          <a:prstGeom prst="rect">
            <a:avLst/>
          </a:prstGeom>
          <a:noFill/>
        </p:spPr>
        <p:txBody>
          <a:bodyPr wrap="square" rtlCol="0">
            <a:spAutoFit/>
          </a:bodyPr>
          <a:lstStyle/>
          <a:p>
            <a:pPr marL="285750" indent="-285750" algn="just">
              <a:buFont typeface="Wingdings" panose="05000000000000000000" pitchFamily="2" charset="2"/>
              <a:buChar char="ü"/>
            </a:pPr>
            <a:r>
              <a:rPr lang="en-IN" sz="1400" dirty="0"/>
              <a:t>Re = 100,000, strong wake shedding persists up to Ha = 100, but diminishes by Ha = 150–200, where near-wall vorticity dominates and a quasi-steady flow appears. </a:t>
            </a:r>
          </a:p>
          <a:p>
            <a:pPr marL="285750" indent="-285750" algn="just">
              <a:buFont typeface="Wingdings" panose="05000000000000000000" pitchFamily="2" charset="2"/>
              <a:buChar char="ü"/>
            </a:pPr>
            <a:r>
              <a:rPr lang="en-IN" sz="1400" dirty="0"/>
              <a:t>Interestingly, at Ha = 250, vortex shedding re-emerges with alternating wake vortices suggesting a non-monotonic response, likely due to altered boundary layer behaviour or secondary instabilities induced by excessive Lorentz forces.</a:t>
            </a:r>
          </a:p>
          <a:p>
            <a:pPr marL="285750" indent="-285750" algn="just">
              <a:buFont typeface="Wingdings" panose="05000000000000000000" pitchFamily="2" charset="2"/>
              <a:buChar char="ü"/>
            </a:pPr>
            <a:r>
              <a:rPr lang="en-IN" sz="1400" dirty="0"/>
              <a:t> At Ha = 300, weak remnants of unsteady vortices remain, but for Ha = 500 the wake becomes fully stabilized</a:t>
            </a:r>
          </a:p>
        </p:txBody>
      </p:sp>
      <p:pic>
        <p:nvPicPr>
          <p:cNvPr id="7" name="Picture 6">
            <a:extLst>
              <a:ext uri="{FF2B5EF4-FFF2-40B4-BE49-F238E27FC236}">
                <a16:creationId xmlns:a16="http://schemas.microsoft.com/office/drawing/2014/main" id="{5FC9299E-EFF2-6B00-61E7-34D98A88C1B4}"/>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27491" y="1683438"/>
            <a:ext cx="2017076" cy="1792576"/>
          </a:xfrm>
          <a:prstGeom prst="rect">
            <a:avLst/>
          </a:prstGeom>
        </p:spPr>
      </p:pic>
      <p:pic>
        <p:nvPicPr>
          <p:cNvPr id="9" name="Picture 8">
            <a:extLst>
              <a:ext uri="{FF2B5EF4-FFF2-40B4-BE49-F238E27FC236}">
                <a16:creationId xmlns:a16="http://schemas.microsoft.com/office/drawing/2014/main" id="{8EF17D85-2ED4-F392-6CEF-DA8863DA3512}"/>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685352" y="1683438"/>
            <a:ext cx="2017108" cy="1792576"/>
          </a:xfrm>
          <a:prstGeom prst="rect">
            <a:avLst/>
          </a:prstGeom>
        </p:spPr>
      </p:pic>
      <p:pic>
        <p:nvPicPr>
          <p:cNvPr id="11" name="Picture 10">
            <a:extLst>
              <a:ext uri="{FF2B5EF4-FFF2-40B4-BE49-F238E27FC236}">
                <a16:creationId xmlns:a16="http://schemas.microsoft.com/office/drawing/2014/main" id="{BE7DFEBB-A1F2-3514-AA79-1146D7D81158}"/>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4886837" y="1691425"/>
            <a:ext cx="2017108" cy="1792576"/>
          </a:xfrm>
          <a:prstGeom prst="rect">
            <a:avLst/>
          </a:prstGeom>
        </p:spPr>
      </p:pic>
      <p:pic>
        <p:nvPicPr>
          <p:cNvPr id="13" name="Picture 12">
            <a:extLst>
              <a:ext uri="{FF2B5EF4-FFF2-40B4-BE49-F238E27FC236}">
                <a16:creationId xmlns:a16="http://schemas.microsoft.com/office/drawing/2014/main" id="{58BE1153-D963-36FE-6232-55C353576B10}"/>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9284250" y="1683410"/>
            <a:ext cx="2017108" cy="1792604"/>
          </a:xfrm>
          <a:prstGeom prst="rect">
            <a:avLst/>
          </a:prstGeom>
        </p:spPr>
      </p:pic>
      <p:pic>
        <p:nvPicPr>
          <p:cNvPr id="15" name="Picture 14">
            <a:extLst>
              <a:ext uri="{FF2B5EF4-FFF2-40B4-BE49-F238E27FC236}">
                <a16:creationId xmlns:a16="http://schemas.microsoft.com/office/drawing/2014/main" id="{407109BD-262A-1686-0E45-B7DB89D40CC1}"/>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527491" y="3811416"/>
            <a:ext cx="2017076" cy="1792576"/>
          </a:xfrm>
          <a:prstGeom prst="rect">
            <a:avLst/>
          </a:prstGeom>
        </p:spPr>
      </p:pic>
      <p:pic>
        <p:nvPicPr>
          <p:cNvPr id="17" name="Picture 16">
            <a:extLst>
              <a:ext uri="{FF2B5EF4-FFF2-40B4-BE49-F238E27FC236}">
                <a16:creationId xmlns:a16="http://schemas.microsoft.com/office/drawing/2014/main" id="{656BAA6B-478D-80FD-9486-3A7733966A5F}"/>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4886837" y="3809075"/>
            <a:ext cx="2017076" cy="1792576"/>
          </a:xfrm>
          <a:prstGeom prst="rect">
            <a:avLst/>
          </a:prstGeom>
        </p:spPr>
      </p:pic>
      <p:pic>
        <p:nvPicPr>
          <p:cNvPr id="19" name="Picture 18">
            <a:extLst>
              <a:ext uri="{FF2B5EF4-FFF2-40B4-BE49-F238E27FC236}">
                <a16:creationId xmlns:a16="http://schemas.microsoft.com/office/drawing/2014/main" id="{1093DDAE-CB7E-0B85-ED79-BD2870DD5435}"/>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7066605" y="3804050"/>
            <a:ext cx="2017076" cy="1792576"/>
          </a:xfrm>
          <a:prstGeom prst="rect">
            <a:avLst/>
          </a:prstGeom>
        </p:spPr>
      </p:pic>
      <p:pic>
        <p:nvPicPr>
          <p:cNvPr id="21" name="Picture 20">
            <a:extLst>
              <a:ext uri="{FF2B5EF4-FFF2-40B4-BE49-F238E27FC236}">
                <a16:creationId xmlns:a16="http://schemas.microsoft.com/office/drawing/2014/main" id="{884A9AE4-01A6-9C01-E890-25C2617A4D76}"/>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9278694" y="3809075"/>
            <a:ext cx="2017108" cy="1792576"/>
          </a:xfrm>
          <a:prstGeom prst="rect">
            <a:avLst/>
          </a:prstGeom>
        </p:spPr>
      </p:pic>
      <p:sp>
        <p:nvSpPr>
          <p:cNvPr id="22" name="TextBox 21">
            <a:extLst>
              <a:ext uri="{FF2B5EF4-FFF2-40B4-BE49-F238E27FC236}">
                <a16:creationId xmlns:a16="http://schemas.microsoft.com/office/drawing/2014/main" id="{06B91D57-D010-8E40-C645-8910C60FB1B6}"/>
              </a:ext>
            </a:extLst>
          </p:cNvPr>
          <p:cNvSpPr txBox="1"/>
          <p:nvPr/>
        </p:nvSpPr>
        <p:spPr>
          <a:xfrm>
            <a:off x="1163495" y="3414792"/>
            <a:ext cx="745067" cy="369332"/>
          </a:xfrm>
          <a:prstGeom prst="rect">
            <a:avLst/>
          </a:prstGeom>
          <a:noFill/>
        </p:spPr>
        <p:txBody>
          <a:bodyPr wrap="square" rtlCol="0">
            <a:spAutoFit/>
          </a:bodyPr>
          <a:lstStyle/>
          <a:p>
            <a:r>
              <a:rPr lang="en-IN" dirty="0"/>
              <a:t>Ha=0</a:t>
            </a:r>
          </a:p>
        </p:txBody>
      </p:sp>
      <p:sp>
        <p:nvSpPr>
          <p:cNvPr id="23" name="TextBox 22">
            <a:extLst>
              <a:ext uri="{FF2B5EF4-FFF2-40B4-BE49-F238E27FC236}">
                <a16:creationId xmlns:a16="http://schemas.microsoft.com/office/drawing/2014/main" id="{95C193BA-A322-3783-21D7-6E8E1D4A5344}"/>
              </a:ext>
            </a:extLst>
          </p:cNvPr>
          <p:cNvSpPr txBox="1"/>
          <p:nvPr/>
        </p:nvSpPr>
        <p:spPr>
          <a:xfrm>
            <a:off x="1135429" y="5596626"/>
            <a:ext cx="970659" cy="369332"/>
          </a:xfrm>
          <a:prstGeom prst="rect">
            <a:avLst/>
          </a:prstGeom>
          <a:noFill/>
        </p:spPr>
        <p:txBody>
          <a:bodyPr wrap="square" rtlCol="0">
            <a:spAutoFit/>
          </a:bodyPr>
          <a:lstStyle/>
          <a:p>
            <a:r>
              <a:rPr lang="en-IN" dirty="0"/>
              <a:t>Ha=200</a:t>
            </a:r>
          </a:p>
        </p:txBody>
      </p:sp>
      <p:sp>
        <p:nvSpPr>
          <p:cNvPr id="24" name="TextBox 23">
            <a:extLst>
              <a:ext uri="{FF2B5EF4-FFF2-40B4-BE49-F238E27FC236}">
                <a16:creationId xmlns:a16="http://schemas.microsoft.com/office/drawing/2014/main" id="{18514329-B8DF-5E71-7E9A-BC7D75B112EF}"/>
              </a:ext>
            </a:extLst>
          </p:cNvPr>
          <p:cNvSpPr txBox="1"/>
          <p:nvPr/>
        </p:nvSpPr>
        <p:spPr>
          <a:xfrm>
            <a:off x="7739960" y="3439743"/>
            <a:ext cx="908285" cy="369332"/>
          </a:xfrm>
          <a:prstGeom prst="rect">
            <a:avLst/>
          </a:prstGeom>
          <a:noFill/>
        </p:spPr>
        <p:txBody>
          <a:bodyPr wrap="square" rtlCol="0">
            <a:spAutoFit/>
          </a:bodyPr>
          <a:lstStyle/>
          <a:p>
            <a:r>
              <a:rPr lang="en-IN" dirty="0"/>
              <a:t>Ha=100</a:t>
            </a:r>
          </a:p>
        </p:txBody>
      </p:sp>
      <p:sp>
        <p:nvSpPr>
          <p:cNvPr id="25" name="TextBox 24">
            <a:extLst>
              <a:ext uri="{FF2B5EF4-FFF2-40B4-BE49-F238E27FC236}">
                <a16:creationId xmlns:a16="http://schemas.microsoft.com/office/drawing/2014/main" id="{3E559132-C5A7-2C87-9D77-9D50B7A03A50}"/>
              </a:ext>
            </a:extLst>
          </p:cNvPr>
          <p:cNvSpPr txBox="1"/>
          <p:nvPr/>
        </p:nvSpPr>
        <p:spPr>
          <a:xfrm>
            <a:off x="9854727" y="3439743"/>
            <a:ext cx="908285" cy="369332"/>
          </a:xfrm>
          <a:prstGeom prst="rect">
            <a:avLst/>
          </a:prstGeom>
          <a:noFill/>
        </p:spPr>
        <p:txBody>
          <a:bodyPr wrap="square" rtlCol="0">
            <a:spAutoFit/>
          </a:bodyPr>
          <a:lstStyle/>
          <a:p>
            <a:r>
              <a:rPr lang="en-IN" dirty="0"/>
              <a:t>Ha=150</a:t>
            </a:r>
          </a:p>
        </p:txBody>
      </p:sp>
      <p:sp>
        <p:nvSpPr>
          <p:cNvPr id="26" name="TextBox 25">
            <a:extLst>
              <a:ext uri="{FF2B5EF4-FFF2-40B4-BE49-F238E27FC236}">
                <a16:creationId xmlns:a16="http://schemas.microsoft.com/office/drawing/2014/main" id="{FB88F596-651A-1DDD-9429-469C3B6972FE}"/>
              </a:ext>
            </a:extLst>
          </p:cNvPr>
          <p:cNvSpPr txBox="1"/>
          <p:nvPr/>
        </p:nvSpPr>
        <p:spPr>
          <a:xfrm>
            <a:off x="3301476" y="5590104"/>
            <a:ext cx="990601" cy="369332"/>
          </a:xfrm>
          <a:prstGeom prst="rect">
            <a:avLst/>
          </a:prstGeom>
          <a:noFill/>
        </p:spPr>
        <p:txBody>
          <a:bodyPr wrap="square" rtlCol="0">
            <a:spAutoFit/>
          </a:bodyPr>
          <a:lstStyle/>
          <a:p>
            <a:r>
              <a:rPr lang="en-IN" dirty="0"/>
              <a:t>Ha=250</a:t>
            </a:r>
          </a:p>
        </p:txBody>
      </p:sp>
      <p:sp>
        <p:nvSpPr>
          <p:cNvPr id="27" name="TextBox 26">
            <a:extLst>
              <a:ext uri="{FF2B5EF4-FFF2-40B4-BE49-F238E27FC236}">
                <a16:creationId xmlns:a16="http://schemas.microsoft.com/office/drawing/2014/main" id="{832DE267-E859-8CE7-0321-8DB876A632D9}"/>
              </a:ext>
            </a:extLst>
          </p:cNvPr>
          <p:cNvSpPr txBox="1"/>
          <p:nvPr/>
        </p:nvSpPr>
        <p:spPr>
          <a:xfrm>
            <a:off x="5509012" y="5596626"/>
            <a:ext cx="1024466" cy="369332"/>
          </a:xfrm>
          <a:prstGeom prst="rect">
            <a:avLst/>
          </a:prstGeom>
          <a:noFill/>
        </p:spPr>
        <p:txBody>
          <a:bodyPr wrap="square" rtlCol="0">
            <a:spAutoFit/>
          </a:bodyPr>
          <a:lstStyle/>
          <a:p>
            <a:r>
              <a:rPr lang="en-IN" dirty="0"/>
              <a:t>Ha=300</a:t>
            </a:r>
          </a:p>
        </p:txBody>
      </p:sp>
      <p:sp>
        <p:nvSpPr>
          <p:cNvPr id="28" name="TextBox 27">
            <a:extLst>
              <a:ext uri="{FF2B5EF4-FFF2-40B4-BE49-F238E27FC236}">
                <a16:creationId xmlns:a16="http://schemas.microsoft.com/office/drawing/2014/main" id="{613AA254-AFD8-C711-5CF6-0BBAC1F262CE}"/>
              </a:ext>
            </a:extLst>
          </p:cNvPr>
          <p:cNvSpPr txBox="1"/>
          <p:nvPr/>
        </p:nvSpPr>
        <p:spPr>
          <a:xfrm>
            <a:off x="7695001" y="5579994"/>
            <a:ext cx="1024467" cy="369332"/>
          </a:xfrm>
          <a:prstGeom prst="rect">
            <a:avLst/>
          </a:prstGeom>
          <a:noFill/>
        </p:spPr>
        <p:txBody>
          <a:bodyPr wrap="square" rtlCol="0">
            <a:spAutoFit/>
          </a:bodyPr>
          <a:lstStyle/>
          <a:p>
            <a:r>
              <a:rPr lang="en-IN" dirty="0"/>
              <a:t>Ha=400</a:t>
            </a:r>
          </a:p>
        </p:txBody>
      </p:sp>
      <p:sp>
        <p:nvSpPr>
          <p:cNvPr id="29" name="TextBox 28">
            <a:extLst>
              <a:ext uri="{FF2B5EF4-FFF2-40B4-BE49-F238E27FC236}">
                <a16:creationId xmlns:a16="http://schemas.microsoft.com/office/drawing/2014/main" id="{9B574847-71E8-8AD7-F065-F9C42D50C5F3}"/>
              </a:ext>
            </a:extLst>
          </p:cNvPr>
          <p:cNvSpPr txBox="1"/>
          <p:nvPr/>
        </p:nvSpPr>
        <p:spPr>
          <a:xfrm>
            <a:off x="9794603" y="5590104"/>
            <a:ext cx="1024467" cy="369332"/>
          </a:xfrm>
          <a:prstGeom prst="rect">
            <a:avLst/>
          </a:prstGeom>
          <a:noFill/>
        </p:spPr>
        <p:txBody>
          <a:bodyPr wrap="square" rtlCol="0">
            <a:spAutoFit/>
          </a:bodyPr>
          <a:lstStyle/>
          <a:p>
            <a:r>
              <a:rPr lang="en-IN" dirty="0"/>
              <a:t>Ha=500</a:t>
            </a:r>
          </a:p>
        </p:txBody>
      </p:sp>
      <p:pic>
        <p:nvPicPr>
          <p:cNvPr id="5" name="Picture 4">
            <a:extLst>
              <a:ext uri="{FF2B5EF4-FFF2-40B4-BE49-F238E27FC236}">
                <a16:creationId xmlns:a16="http://schemas.microsoft.com/office/drawing/2014/main" id="{40CC1161-80E2-770A-2DFE-59F349F6EBA0}"/>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2688924" y="3804050"/>
            <a:ext cx="2017107" cy="1792576"/>
          </a:xfrm>
          <a:prstGeom prst="rect">
            <a:avLst/>
          </a:prstGeom>
        </p:spPr>
      </p:pic>
      <p:pic>
        <p:nvPicPr>
          <p:cNvPr id="8" name="Picture 7">
            <a:extLst>
              <a:ext uri="{FF2B5EF4-FFF2-40B4-BE49-F238E27FC236}">
                <a16:creationId xmlns:a16="http://schemas.microsoft.com/office/drawing/2014/main" id="{F555A133-D717-A7F5-A2EC-CF853CFD7C0D}"/>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7082765" y="1691426"/>
            <a:ext cx="2017108" cy="1792576"/>
          </a:xfrm>
          <a:prstGeom prst="rect">
            <a:avLst/>
          </a:prstGeom>
        </p:spPr>
      </p:pic>
      <p:sp>
        <p:nvSpPr>
          <p:cNvPr id="10" name="TextBox 9">
            <a:extLst>
              <a:ext uri="{FF2B5EF4-FFF2-40B4-BE49-F238E27FC236}">
                <a16:creationId xmlns:a16="http://schemas.microsoft.com/office/drawing/2014/main" id="{DF8FCDDB-5C56-F818-17C7-9ADA91BE5898}"/>
              </a:ext>
            </a:extLst>
          </p:cNvPr>
          <p:cNvSpPr txBox="1"/>
          <p:nvPr/>
        </p:nvSpPr>
        <p:spPr>
          <a:xfrm>
            <a:off x="3431689" y="3414792"/>
            <a:ext cx="970659" cy="369332"/>
          </a:xfrm>
          <a:prstGeom prst="rect">
            <a:avLst/>
          </a:prstGeom>
          <a:noFill/>
        </p:spPr>
        <p:txBody>
          <a:bodyPr wrap="square" rtlCol="0">
            <a:spAutoFit/>
          </a:bodyPr>
          <a:lstStyle/>
          <a:p>
            <a:r>
              <a:rPr lang="en-IN" dirty="0"/>
              <a:t>Ha=50</a:t>
            </a:r>
          </a:p>
        </p:txBody>
      </p:sp>
      <p:sp>
        <p:nvSpPr>
          <p:cNvPr id="12" name="TextBox 11">
            <a:extLst>
              <a:ext uri="{FF2B5EF4-FFF2-40B4-BE49-F238E27FC236}">
                <a16:creationId xmlns:a16="http://schemas.microsoft.com/office/drawing/2014/main" id="{A1F6EAC4-7365-B50C-856D-AA78DAAE5133}"/>
              </a:ext>
            </a:extLst>
          </p:cNvPr>
          <p:cNvSpPr txBox="1"/>
          <p:nvPr/>
        </p:nvSpPr>
        <p:spPr>
          <a:xfrm>
            <a:off x="5562819" y="3447757"/>
            <a:ext cx="970659" cy="369332"/>
          </a:xfrm>
          <a:prstGeom prst="rect">
            <a:avLst/>
          </a:prstGeom>
          <a:noFill/>
        </p:spPr>
        <p:txBody>
          <a:bodyPr wrap="square" rtlCol="0">
            <a:spAutoFit/>
          </a:bodyPr>
          <a:lstStyle/>
          <a:p>
            <a:r>
              <a:rPr lang="en-IN" dirty="0"/>
              <a:t>Ha=75</a:t>
            </a:r>
          </a:p>
        </p:txBody>
      </p:sp>
      <p:cxnSp>
        <p:nvCxnSpPr>
          <p:cNvPr id="30" name="Straight Connector 29"/>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1" name="Rectangle 30"/>
          <p:cNvSpPr/>
          <p:nvPr/>
        </p:nvSpPr>
        <p:spPr>
          <a:xfrm>
            <a:off x="3658070" y="64004"/>
            <a:ext cx="4780155" cy="646331"/>
          </a:xfrm>
          <a:prstGeom prst="rect">
            <a:avLst/>
          </a:prstGeom>
        </p:spPr>
        <p:txBody>
          <a:bodyPr wrap="none">
            <a:spAutoFit/>
          </a:bodyPr>
          <a:lstStyle/>
          <a:p>
            <a:r>
              <a:rPr lang="en-IN" sz="3600" b="1" dirty="0">
                <a:latin typeface="Times New Roman" panose="02020603050405020304" pitchFamily="18" charset="0"/>
                <a:ea typeface="+mj-ea"/>
                <a:cs typeface="Times New Roman" panose="02020603050405020304" pitchFamily="18" charset="0"/>
              </a:rPr>
              <a:t>Streamlines, Re 100000</a:t>
            </a:r>
            <a:endParaRPr lang="en-US" dirty="0"/>
          </a:p>
        </p:txBody>
      </p:sp>
    </p:spTree>
    <p:extLst>
      <p:ext uri="{BB962C8B-B14F-4D97-AF65-F5344CB8AC3E}">
        <p14:creationId xmlns:p14="http://schemas.microsoft.com/office/powerpoint/2010/main" val="1422866431"/>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2BD4B70A-508C-6E6F-3B52-70804750770B}"/>
              </a:ext>
            </a:extLst>
          </p:cNvPr>
          <p:cNvSpPr>
            <a:spLocks noGrp="1"/>
          </p:cNvSpPr>
          <p:nvPr>
            <p:ph type="sldNum" sz="quarter" idx="10"/>
          </p:nvPr>
        </p:nvSpPr>
        <p:spPr/>
        <p:txBody>
          <a:bodyPr/>
          <a:lstStyle/>
          <a:p>
            <a:fld id="{98045765-9D82-4A4A-9458-B21A2E924861}" type="slidenum">
              <a:rPr lang="en-US" smtClean="0"/>
              <a:t>13</a:t>
            </a:fld>
            <a:endParaRPr lang="en-US"/>
          </a:p>
        </p:txBody>
      </p:sp>
      <p:pic>
        <p:nvPicPr>
          <p:cNvPr id="5" name="Picture 4">
            <a:extLst>
              <a:ext uri="{FF2B5EF4-FFF2-40B4-BE49-F238E27FC236}">
                <a16:creationId xmlns:a16="http://schemas.microsoft.com/office/drawing/2014/main" id="{3BAD4546-DC7D-81D8-B0B7-49E20383AAD5}"/>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524297" y="1225907"/>
            <a:ext cx="2053024" cy="1824523"/>
          </a:xfrm>
          <a:prstGeom prst="rect">
            <a:avLst/>
          </a:prstGeom>
        </p:spPr>
      </p:pic>
      <p:pic>
        <p:nvPicPr>
          <p:cNvPr id="7" name="Picture 6">
            <a:extLst>
              <a:ext uri="{FF2B5EF4-FFF2-40B4-BE49-F238E27FC236}">
                <a16:creationId xmlns:a16="http://schemas.microsoft.com/office/drawing/2014/main" id="{D126D891-745D-65B2-1480-CCCD665C5C16}"/>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2780651" y="1225907"/>
            <a:ext cx="2053024" cy="1824523"/>
          </a:xfrm>
          <a:prstGeom prst="rect">
            <a:avLst/>
          </a:prstGeom>
        </p:spPr>
      </p:pic>
      <p:pic>
        <p:nvPicPr>
          <p:cNvPr id="11" name="Picture 10">
            <a:extLst>
              <a:ext uri="{FF2B5EF4-FFF2-40B4-BE49-F238E27FC236}">
                <a16:creationId xmlns:a16="http://schemas.microsoft.com/office/drawing/2014/main" id="{4D34577C-5808-8D87-AD7C-2855A7FACF32}"/>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085818" y="1225906"/>
            <a:ext cx="2053025" cy="1824523"/>
          </a:xfrm>
          <a:prstGeom prst="rect">
            <a:avLst/>
          </a:prstGeom>
        </p:spPr>
      </p:pic>
      <p:pic>
        <p:nvPicPr>
          <p:cNvPr id="12" name="Picture 11">
            <a:extLst>
              <a:ext uri="{FF2B5EF4-FFF2-40B4-BE49-F238E27FC236}">
                <a16:creationId xmlns:a16="http://schemas.microsoft.com/office/drawing/2014/main" id="{E71C8948-4B72-1F83-ACEC-D72C7BDA3457}"/>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7390987" y="1225904"/>
            <a:ext cx="2053026" cy="1824525"/>
          </a:xfrm>
          <a:prstGeom prst="rect">
            <a:avLst/>
          </a:prstGeom>
        </p:spPr>
      </p:pic>
      <p:pic>
        <p:nvPicPr>
          <p:cNvPr id="14" name="Picture 13">
            <a:extLst>
              <a:ext uri="{FF2B5EF4-FFF2-40B4-BE49-F238E27FC236}">
                <a16:creationId xmlns:a16="http://schemas.microsoft.com/office/drawing/2014/main" id="{8B35298E-1C82-5F26-D0FB-C8B7421321E8}"/>
              </a:ext>
            </a:extLst>
          </p:cNvPr>
          <p:cNvPicPr>
            <a:picLocks noChangeAspect="1"/>
          </p:cNvPicPr>
          <p:nvPr/>
        </p:nvPicPr>
        <p:blipFill>
          <a:blip r:embed="rId6" cstate="hqprint">
            <a:extLst>
              <a:ext uri="{28A0092B-C50C-407E-A947-70E740481C1C}">
                <a14:useLocalDpi xmlns:a14="http://schemas.microsoft.com/office/drawing/2010/main" val="0"/>
              </a:ext>
            </a:extLst>
          </a:blip>
          <a:stretch>
            <a:fillRect/>
          </a:stretch>
        </p:blipFill>
        <p:spPr>
          <a:xfrm>
            <a:off x="9696152" y="1225902"/>
            <a:ext cx="2053025" cy="1824524"/>
          </a:xfrm>
          <a:prstGeom prst="rect">
            <a:avLst/>
          </a:prstGeom>
        </p:spPr>
      </p:pic>
      <p:pic>
        <p:nvPicPr>
          <p:cNvPr id="16" name="Picture 15">
            <a:extLst>
              <a:ext uri="{FF2B5EF4-FFF2-40B4-BE49-F238E27FC236}">
                <a16:creationId xmlns:a16="http://schemas.microsoft.com/office/drawing/2014/main" id="{F3C178CB-7212-5FA8-BDE9-58DB8470CCDD}"/>
              </a:ext>
            </a:extLst>
          </p:cNvPr>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524297" y="3558729"/>
            <a:ext cx="2053024" cy="1824523"/>
          </a:xfrm>
          <a:prstGeom prst="rect">
            <a:avLst/>
          </a:prstGeom>
        </p:spPr>
      </p:pic>
      <p:pic>
        <p:nvPicPr>
          <p:cNvPr id="18" name="Picture 17">
            <a:extLst>
              <a:ext uri="{FF2B5EF4-FFF2-40B4-BE49-F238E27FC236}">
                <a16:creationId xmlns:a16="http://schemas.microsoft.com/office/drawing/2014/main" id="{4630F689-9E6B-590C-A032-560D8F9D5E8A}"/>
              </a:ext>
            </a:extLst>
          </p:cNvPr>
          <p:cNvPicPr>
            <a:picLocks noChangeAspect="1"/>
          </p:cNvPicPr>
          <p:nvPr/>
        </p:nvPicPr>
        <p:blipFill>
          <a:blip r:embed="rId8" cstate="hqprint">
            <a:extLst>
              <a:ext uri="{28A0092B-C50C-407E-A947-70E740481C1C}">
                <a14:useLocalDpi xmlns:a14="http://schemas.microsoft.com/office/drawing/2010/main" val="0"/>
              </a:ext>
            </a:extLst>
          </a:blip>
          <a:stretch>
            <a:fillRect/>
          </a:stretch>
        </p:blipFill>
        <p:spPr>
          <a:xfrm>
            <a:off x="2780651" y="3558730"/>
            <a:ext cx="2053023" cy="1824522"/>
          </a:xfrm>
          <a:prstGeom prst="rect">
            <a:avLst/>
          </a:prstGeom>
        </p:spPr>
      </p:pic>
      <p:pic>
        <p:nvPicPr>
          <p:cNvPr id="22" name="Picture 21">
            <a:extLst>
              <a:ext uri="{FF2B5EF4-FFF2-40B4-BE49-F238E27FC236}">
                <a16:creationId xmlns:a16="http://schemas.microsoft.com/office/drawing/2014/main" id="{1BE27ACA-2B26-D311-A063-214732674802}"/>
              </a:ext>
            </a:extLst>
          </p:cNvPr>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5085818" y="3558729"/>
            <a:ext cx="2053023" cy="1825365"/>
          </a:xfrm>
          <a:prstGeom prst="rect">
            <a:avLst/>
          </a:prstGeom>
        </p:spPr>
      </p:pic>
      <p:pic>
        <p:nvPicPr>
          <p:cNvPr id="24" name="Picture 23">
            <a:extLst>
              <a:ext uri="{FF2B5EF4-FFF2-40B4-BE49-F238E27FC236}">
                <a16:creationId xmlns:a16="http://schemas.microsoft.com/office/drawing/2014/main" id="{D5DC115C-03DC-8A10-9206-3C0265D71EDF}"/>
              </a:ext>
            </a:extLst>
          </p:cNvPr>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7390990" y="3558729"/>
            <a:ext cx="2053023" cy="1825365"/>
          </a:xfrm>
          <a:prstGeom prst="rect">
            <a:avLst/>
          </a:prstGeom>
        </p:spPr>
      </p:pic>
      <p:pic>
        <p:nvPicPr>
          <p:cNvPr id="26" name="Picture 25">
            <a:extLst>
              <a:ext uri="{FF2B5EF4-FFF2-40B4-BE49-F238E27FC236}">
                <a16:creationId xmlns:a16="http://schemas.microsoft.com/office/drawing/2014/main" id="{67B565F9-F17C-E66B-053E-7807B9D11648}"/>
              </a:ext>
            </a:extLst>
          </p:cNvPr>
          <p:cNvPicPr>
            <a:picLocks noChangeAspect="1"/>
          </p:cNvPicPr>
          <p:nvPr/>
        </p:nvPicPr>
        <p:blipFill>
          <a:blip r:embed="rId11" cstate="hqprint">
            <a:extLst>
              <a:ext uri="{28A0092B-C50C-407E-A947-70E740481C1C}">
                <a14:useLocalDpi xmlns:a14="http://schemas.microsoft.com/office/drawing/2010/main" val="0"/>
              </a:ext>
            </a:extLst>
          </a:blip>
          <a:stretch>
            <a:fillRect/>
          </a:stretch>
        </p:blipFill>
        <p:spPr>
          <a:xfrm>
            <a:off x="9697101" y="3561236"/>
            <a:ext cx="2052076" cy="1824523"/>
          </a:xfrm>
          <a:prstGeom prst="rect">
            <a:avLst/>
          </a:prstGeom>
        </p:spPr>
      </p:pic>
      <p:sp>
        <p:nvSpPr>
          <p:cNvPr id="27" name="TextBox 26">
            <a:extLst>
              <a:ext uri="{FF2B5EF4-FFF2-40B4-BE49-F238E27FC236}">
                <a16:creationId xmlns:a16="http://schemas.microsoft.com/office/drawing/2014/main" id="{4DA0140F-0B0A-7180-03D5-35087040696C}"/>
              </a:ext>
            </a:extLst>
          </p:cNvPr>
          <p:cNvSpPr txBox="1"/>
          <p:nvPr/>
        </p:nvSpPr>
        <p:spPr>
          <a:xfrm>
            <a:off x="1176755" y="3114604"/>
            <a:ext cx="1043796" cy="369332"/>
          </a:xfrm>
          <a:prstGeom prst="rect">
            <a:avLst/>
          </a:prstGeom>
          <a:noFill/>
        </p:spPr>
        <p:txBody>
          <a:bodyPr wrap="square" rtlCol="0">
            <a:spAutoFit/>
          </a:bodyPr>
          <a:lstStyle/>
          <a:p>
            <a:r>
              <a:rPr lang="en-IN" dirty="0"/>
              <a:t>Ha=0</a:t>
            </a:r>
          </a:p>
        </p:txBody>
      </p:sp>
      <p:sp>
        <p:nvSpPr>
          <p:cNvPr id="28" name="TextBox 27">
            <a:extLst>
              <a:ext uri="{FF2B5EF4-FFF2-40B4-BE49-F238E27FC236}">
                <a16:creationId xmlns:a16="http://schemas.microsoft.com/office/drawing/2014/main" id="{ADF86FB9-9AD4-DBE8-49A7-55CE12C1FFE1}"/>
              </a:ext>
            </a:extLst>
          </p:cNvPr>
          <p:cNvSpPr txBox="1"/>
          <p:nvPr/>
        </p:nvSpPr>
        <p:spPr>
          <a:xfrm>
            <a:off x="8069961" y="5383252"/>
            <a:ext cx="1043796" cy="369332"/>
          </a:xfrm>
          <a:prstGeom prst="rect">
            <a:avLst/>
          </a:prstGeom>
          <a:noFill/>
        </p:spPr>
        <p:txBody>
          <a:bodyPr wrap="square" rtlCol="0">
            <a:spAutoFit/>
          </a:bodyPr>
          <a:lstStyle/>
          <a:p>
            <a:r>
              <a:rPr lang="en-IN" dirty="0"/>
              <a:t>Ha=400</a:t>
            </a:r>
          </a:p>
        </p:txBody>
      </p:sp>
      <p:sp>
        <p:nvSpPr>
          <p:cNvPr id="29" name="TextBox 28">
            <a:extLst>
              <a:ext uri="{FF2B5EF4-FFF2-40B4-BE49-F238E27FC236}">
                <a16:creationId xmlns:a16="http://schemas.microsoft.com/office/drawing/2014/main" id="{3F3102A7-DE24-6FC1-E119-14483F4A8D44}"/>
              </a:ext>
            </a:extLst>
          </p:cNvPr>
          <p:cNvSpPr txBox="1"/>
          <p:nvPr/>
        </p:nvSpPr>
        <p:spPr>
          <a:xfrm>
            <a:off x="10375133" y="5385319"/>
            <a:ext cx="1043796" cy="369332"/>
          </a:xfrm>
          <a:prstGeom prst="rect">
            <a:avLst/>
          </a:prstGeom>
          <a:noFill/>
        </p:spPr>
        <p:txBody>
          <a:bodyPr wrap="square" rtlCol="0">
            <a:spAutoFit/>
          </a:bodyPr>
          <a:lstStyle/>
          <a:p>
            <a:r>
              <a:rPr lang="en-IN" dirty="0"/>
              <a:t>Ha=500</a:t>
            </a:r>
          </a:p>
        </p:txBody>
      </p:sp>
      <p:sp>
        <p:nvSpPr>
          <p:cNvPr id="30" name="TextBox 29">
            <a:extLst>
              <a:ext uri="{FF2B5EF4-FFF2-40B4-BE49-F238E27FC236}">
                <a16:creationId xmlns:a16="http://schemas.microsoft.com/office/drawing/2014/main" id="{970F5F06-42A6-5E1C-1378-A8C6907C4F48}"/>
              </a:ext>
            </a:extLst>
          </p:cNvPr>
          <p:cNvSpPr txBox="1"/>
          <p:nvPr/>
        </p:nvSpPr>
        <p:spPr>
          <a:xfrm>
            <a:off x="3402069" y="3114604"/>
            <a:ext cx="1043796" cy="369332"/>
          </a:xfrm>
          <a:prstGeom prst="rect">
            <a:avLst/>
          </a:prstGeom>
          <a:noFill/>
        </p:spPr>
        <p:txBody>
          <a:bodyPr wrap="square" rtlCol="0">
            <a:spAutoFit/>
          </a:bodyPr>
          <a:lstStyle/>
          <a:p>
            <a:r>
              <a:rPr lang="en-IN" dirty="0"/>
              <a:t>Ha=50</a:t>
            </a:r>
          </a:p>
        </p:txBody>
      </p:sp>
      <p:sp>
        <p:nvSpPr>
          <p:cNvPr id="31" name="TextBox 30">
            <a:extLst>
              <a:ext uri="{FF2B5EF4-FFF2-40B4-BE49-F238E27FC236}">
                <a16:creationId xmlns:a16="http://schemas.microsoft.com/office/drawing/2014/main" id="{EB688D7B-1DFE-74B1-0A66-3646952D6C53}"/>
              </a:ext>
            </a:extLst>
          </p:cNvPr>
          <p:cNvSpPr txBox="1"/>
          <p:nvPr/>
        </p:nvSpPr>
        <p:spPr>
          <a:xfrm>
            <a:off x="5736015" y="3059668"/>
            <a:ext cx="1043796" cy="369332"/>
          </a:xfrm>
          <a:prstGeom prst="rect">
            <a:avLst/>
          </a:prstGeom>
          <a:noFill/>
        </p:spPr>
        <p:txBody>
          <a:bodyPr wrap="square" rtlCol="0">
            <a:spAutoFit/>
          </a:bodyPr>
          <a:lstStyle/>
          <a:p>
            <a:r>
              <a:rPr lang="en-IN" dirty="0"/>
              <a:t>Ha=75</a:t>
            </a:r>
          </a:p>
        </p:txBody>
      </p:sp>
      <p:sp>
        <p:nvSpPr>
          <p:cNvPr id="32" name="TextBox 31">
            <a:extLst>
              <a:ext uri="{FF2B5EF4-FFF2-40B4-BE49-F238E27FC236}">
                <a16:creationId xmlns:a16="http://schemas.microsoft.com/office/drawing/2014/main" id="{CE793A8E-5BEE-8139-C661-5223FCF0D233}"/>
              </a:ext>
            </a:extLst>
          </p:cNvPr>
          <p:cNvSpPr txBox="1"/>
          <p:nvPr/>
        </p:nvSpPr>
        <p:spPr>
          <a:xfrm>
            <a:off x="8004389" y="3050008"/>
            <a:ext cx="1043796" cy="369332"/>
          </a:xfrm>
          <a:prstGeom prst="rect">
            <a:avLst/>
          </a:prstGeom>
          <a:noFill/>
        </p:spPr>
        <p:txBody>
          <a:bodyPr wrap="square" rtlCol="0">
            <a:spAutoFit/>
          </a:bodyPr>
          <a:lstStyle/>
          <a:p>
            <a:r>
              <a:rPr lang="en-IN" dirty="0"/>
              <a:t>Ha=100</a:t>
            </a:r>
          </a:p>
        </p:txBody>
      </p:sp>
      <p:sp>
        <p:nvSpPr>
          <p:cNvPr id="33" name="TextBox 32">
            <a:extLst>
              <a:ext uri="{FF2B5EF4-FFF2-40B4-BE49-F238E27FC236}">
                <a16:creationId xmlns:a16="http://schemas.microsoft.com/office/drawing/2014/main" id="{6ABB95D2-2A4A-A342-5043-A9999EAA112C}"/>
              </a:ext>
            </a:extLst>
          </p:cNvPr>
          <p:cNvSpPr txBox="1"/>
          <p:nvPr/>
        </p:nvSpPr>
        <p:spPr>
          <a:xfrm>
            <a:off x="10313742" y="3050008"/>
            <a:ext cx="1043796" cy="369332"/>
          </a:xfrm>
          <a:prstGeom prst="rect">
            <a:avLst/>
          </a:prstGeom>
          <a:noFill/>
        </p:spPr>
        <p:txBody>
          <a:bodyPr wrap="square" rtlCol="0">
            <a:spAutoFit/>
          </a:bodyPr>
          <a:lstStyle/>
          <a:p>
            <a:r>
              <a:rPr lang="en-IN" dirty="0"/>
              <a:t>Ha=150</a:t>
            </a:r>
          </a:p>
        </p:txBody>
      </p:sp>
      <p:sp>
        <p:nvSpPr>
          <p:cNvPr id="34" name="TextBox 33">
            <a:extLst>
              <a:ext uri="{FF2B5EF4-FFF2-40B4-BE49-F238E27FC236}">
                <a16:creationId xmlns:a16="http://schemas.microsoft.com/office/drawing/2014/main" id="{AABDF7AF-B4B2-15A9-655C-A4F1DC5FB2C0}"/>
              </a:ext>
            </a:extLst>
          </p:cNvPr>
          <p:cNvSpPr txBox="1"/>
          <p:nvPr/>
        </p:nvSpPr>
        <p:spPr>
          <a:xfrm>
            <a:off x="1059139" y="5370829"/>
            <a:ext cx="1043796" cy="369332"/>
          </a:xfrm>
          <a:prstGeom prst="rect">
            <a:avLst/>
          </a:prstGeom>
          <a:noFill/>
        </p:spPr>
        <p:txBody>
          <a:bodyPr wrap="square" rtlCol="0">
            <a:spAutoFit/>
          </a:bodyPr>
          <a:lstStyle/>
          <a:p>
            <a:r>
              <a:rPr lang="en-IN" dirty="0"/>
              <a:t>Ha=200</a:t>
            </a:r>
          </a:p>
        </p:txBody>
      </p:sp>
      <p:sp>
        <p:nvSpPr>
          <p:cNvPr id="35" name="TextBox 34">
            <a:extLst>
              <a:ext uri="{FF2B5EF4-FFF2-40B4-BE49-F238E27FC236}">
                <a16:creationId xmlns:a16="http://schemas.microsoft.com/office/drawing/2014/main" id="{9BD07143-3011-A230-FC3D-A02C03F0A16C}"/>
              </a:ext>
            </a:extLst>
          </p:cNvPr>
          <p:cNvSpPr txBox="1"/>
          <p:nvPr/>
        </p:nvSpPr>
        <p:spPr>
          <a:xfrm>
            <a:off x="3508441" y="5383252"/>
            <a:ext cx="1043796" cy="369332"/>
          </a:xfrm>
          <a:prstGeom prst="rect">
            <a:avLst/>
          </a:prstGeom>
          <a:noFill/>
        </p:spPr>
        <p:txBody>
          <a:bodyPr wrap="square" rtlCol="0">
            <a:spAutoFit/>
          </a:bodyPr>
          <a:lstStyle/>
          <a:p>
            <a:r>
              <a:rPr lang="en-IN" dirty="0"/>
              <a:t>Ha=250</a:t>
            </a:r>
          </a:p>
        </p:txBody>
      </p:sp>
      <p:sp>
        <p:nvSpPr>
          <p:cNvPr id="36" name="TextBox 35">
            <a:extLst>
              <a:ext uri="{FF2B5EF4-FFF2-40B4-BE49-F238E27FC236}">
                <a16:creationId xmlns:a16="http://schemas.microsoft.com/office/drawing/2014/main" id="{6B4E86ED-4BAD-6954-E4BB-3DDED384F667}"/>
              </a:ext>
            </a:extLst>
          </p:cNvPr>
          <p:cNvSpPr txBox="1"/>
          <p:nvPr/>
        </p:nvSpPr>
        <p:spPr>
          <a:xfrm>
            <a:off x="5764794" y="5383252"/>
            <a:ext cx="1043796" cy="369332"/>
          </a:xfrm>
          <a:prstGeom prst="rect">
            <a:avLst/>
          </a:prstGeom>
          <a:noFill/>
        </p:spPr>
        <p:txBody>
          <a:bodyPr wrap="square" rtlCol="0">
            <a:spAutoFit/>
          </a:bodyPr>
          <a:lstStyle/>
          <a:p>
            <a:r>
              <a:rPr lang="en-IN" dirty="0"/>
              <a:t>Ha=300</a:t>
            </a:r>
          </a:p>
        </p:txBody>
      </p:sp>
      <p:cxnSp>
        <p:nvCxnSpPr>
          <p:cNvPr id="25" name="Straight Connector 24"/>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37" name="Rectangle 36"/>
          <p:cNvSpPr/>
          <p:nvPr/>
        </p:nvSpPr>
        <p:spPr>
          <a:xfrm>
            <a:off x="3758476" y="85752"/>
            <a:ext cx="4904484" cy="646331"/>
          </a:xfrm>
          <a:prstGeom prst="rect">
            <a:avLst/>
          </a:prstGeom>
        </p:spPr>
        <p:txBody>
          <a:bodyPr wrap="none">
            <a:spAutoFit/>
          </a:bodyPr>
          <a:lstStyle/>
          <a:p>
            <a:r>
              <a:rPr lang="en-IN" sz="3600" b="1" dirty="0">
                <a:latin typeface="Times New Roman" panose="02020603050405020304" pitchFamily="18" charset="0"/>
                <a:ea typeface="+mj-ea"/>
                <a:cs typeface="Times New Roman" panose="02020603050405020304" pitchFamily="18" charset="0"/>
              </a:rPr>
              <a:t>Z- Vorticity : Re 100000</a:t>
            </a:r>
            <a:endParaRPr lang="en-US" dirty="0"/>
          </a:p>
        </p:txBody>
      </p:sp>
    </p:spTree>
    <p:extLst>
      <p:ext uri="{BB962C8B-B14F-4D97-AF65-F5344CB8AC3E}">
        <p14:creationId xmlns:p14="http://schemas.microsoft.com/office/powerpoint/2010/main" val="105457064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784E8F-62B3-A2E8-BA53-D0B9E2578721}"/>
              </a:ext>
            </a:extLst>
          </p:cNvPr>
          <p:cNvSpPr>
            <a:spLocks noGrp="1"/>
          </p:cNvSpPr>
          <p:nvPr>
            <p:ph type="title"/>
          </p:nvPr>
        </p:nvSpPr>
        <p:spPr>
          <a:xfrm>
            <a:off x="838200" y="-192529"/>
            <a:ext cx="10515600" cy="1256219"/>
          </a:xfrm>
        </p:spPr>
        <p:txBody>
          <a:bodyPr>
            <a:normAutofit/>
          </a:bodyPr>
          <a:lstStyle/>
          <a:p>
            <a:pPr algn="ctr"/>
            <a:r>
              <a:rPr lang="en-IN" sz="3600" b="1" dirty="0">
                <a:latin typeface="Times New Roman" panose="02020603050405020304" pitchFamily="18" charset="0"/>
                <a:cs typeface="Times New Roman" panose="02020603050405020304" pitchFamily="18" charset="0"/>
              </a:rPr>
              <a:t>Nusselt Number</a:t>
            </a:r>
          </a:p>
        </p:txBody>
      </p:sp>
      <p:sp>
        <p:nvSpPr>
          <p:cNvPr id="3" name="Slide Number Placeholder 2">
            <a:extLst>
              <a:ext uri="{FF2B5EF4-FFF2-40B4-BE49-F238E27FC236}">
                <a16:creationId xmlns:a16="http://schemas.microsoft.com/office/drawing/2014/main" id="{E6777AEA-E392-B93F-E4F2-AE68476D1B66}"/>
              </a:ext>
            </a:extLst>
          </p:cNvPr>
          <p:cNvSpPr>
            <a:spLocks noGrp="1"/>
          </p:cNvSpPr>
          <p:nvPr>
            <p:ph type="sldNum" sz="quarter" idx="10"/>
          </p:nvPr>
        </p:nvSpPr>
        <p:spPr/>
        <p:txBody>
          <a:bodyPr/>
          <a:lstStyle/>
          <a:p>
            <a:fld id="{98045765-9D82-4A4A-9458-B21A2E924861}" type="slidenum">
              <a:rPr lang="en-US" smtClean="0"/>
              <a:t>14</a:t>
            </a:fld>
            <a:endParaRPr lang="en-US"/>
          </a:p>
        </p:txBody>
      </p:sp>
      <p:sp>
        <p:nvSpPr>
          <p:cNvPr id="4" name="TextBox 3">
            <a:extLst>
              <a:ext uri="{FF2B5EF4-FFF2-40B4-BE49-F238E27FC236}">
                <a16:creationId xmlns:a16="http://schemas.microsoft.com/office/drawing/2014/main" id="{F33153DA-5768-FC7B-0B5C-7F3C63F86A80}"/>
              </a:ext>
            </a:extLst>
          </p:cNvPr>
          <p:cNvSpPr txBox="1"/>
          <p:nvPr/>
        </p:nvSpPr>
        <p:spPr>
          <a:xfrm>
            <a:off x="908808" y="792017"/>
            <a:ext cx="11283192" cy="1384995"/>
          </a:xfrm>
          <a:prstGeom prst="rect">
            <a:avLst/>
          </a:prstGeom>
          <a:noFill/>
        </p:spPr>
        <p:txBody>
          <a:bodyPr wrap="square" rtlCol="0">
            <a:spAutoFit/>
          </a:bodyPr>
          <a:lstStyle/>
          <a:p>
            <a:r>
              <a:rPr lang="en-US" sz="1400" b="1" dirty="0"/>
              <a:t>🔹 Nusselt Number (Nu)</a:t>
            </a:r>
          </a:p>
          <a:p>
            <a:pPr marL="285750" indent="-285750">
              <a:buFont typeface="Wingdings" panose="05000000000000000000" pitchFamily="2" charset="2"/>
              <a:buChar char="ü"/>
            </a:pPr>
            <a:r>
              <a:rPr lang="en-US" sz="1400" dirty="0"/>
              <a:t>The Nusselt number increases moderately with Hartmann number across all Reynolds numbers. At higher Re, the enhancement is more pronounced due to stronger convective activity. </a:t>
            </a:r>
          </a:p>
          <a:p>
            <a:pPr marL="285750" indent="-285750">
              <a:buFont typeface="Wingdings" panose="05000000000000000000" pitchFamily="2" charset="2"/>
              <a:buChar char="ü"/>
            </a:pPr>
            <a:r>
              <a:rPr lang="en-US" sz="1400" dirty="0"/>
              <a:t>The Lorentz force suppresses turbulence, it steepens the near-wall temperature gradients, leading to improved heat transfer.</a:t>
            </a:r>
          </a:p>
          <a:p>
            <a:endParaRPr lang="en-US" sz="1400" dirty="0"/>
          </a:p>
          <a:p>
            <a:endParaRPr lang="en-IN" sz="1400" dirty="0"/>
          </a:p>
        </p:txBody>
      </p:sp>
      <p:sp>
        <p:nvSpPr>
          <p:cNvPr id="10" name="TextBox 9">
            <a:extLst>
              <a:ext uri="{FF2B5EF4-FFF2-40B4-BE49-F238E27FC236}">
                <a16:creationId xmlns:a16="http://schemas.microsoft.com/office/drawing/2014/main" id="{DED738E7-5550-032B-2F6D-A750DFBF0281}"/>
              </a:ext>
            </a:extLst>
          </p:cNvPr>
          <p:cNvSpPr txBox="1"/>
          <p:nvPr/>
        </p:nvSpPr>
        <p:spPr>
          <a:xfrm>
            <a:off x="490048" y="4576090"/>
            <a:ext cx="2441196" cy="369332"/>
          </a:xfrm>
          <a:prstGeom prst="rect">
            <a:avLst/>
          </a:prstGeom>
          <a:noFill/>
        </p:spPr>
        <p:txBody>
          <a:bodyPr wrap="square" rtlCol="0">
            <a:spAutoFit/>
          </a:bodyPr>
          <a:lstStyle/>
          <a:p>
            <a:r>
              <a:rPr lang="en-IN" dirty="0"/>
              <a:t>Nu vs Hartman Number</a:t>
            </a:r>
          </a:p>
        </p:txBody>
      </p:sp>
      <p:pic>
        <p:nvPicPr>
          <p:cNvPr id="5" name="Picture 4">
            <a:extLst>
              <a:ext uri="{FF2B5EF4-FFF2-40B4-BE49-F238E27FC236}">
                <a16:creationId xmlns:a16="http://schemas.microsoft.com/office/drawing/2014/main" id="{53E96420-7DB3-E92E-2A74-9735ED10CC70}"/>
              </a:ext>
            </a:extLst>
          </p:cNvPr>
          <p:cNvPicPr>
            <a:picLocks noChangeAspect="1"/>
          </p:cNvPicPr>
          <p:nvPr/>
        </p:nvPicPr>
        <p:blipFill>
          <a:blip r:embed="rId2" cstate="hqprint">
            <a:extLst>
              <a:ext uri="{28A0092B-C50C-407E-A947-70E740481C1C}">
                <a14:useLocalDpi xmlns:a14="http://schemas.microsoft.com/office/drawing/2010/main" val="0"/>
              </a:ext>
            </a:extLst>
          </a:blip>
          <a:stretch>
            <a:fillRect/>
          </a:stretch>
        </p:blipFill>
        <p:spPr>
          <a:xfrm>
            <a:off x="363617" y="1939997"/>
            <a:ext cx="2694059" cy="2443122"/>
          </a:xfrm>
          <a:prstGeom prst="rect">
            <a:avLst/>
          </a:prstGeom>
        </p:spPr>
      </p:pic>
      <p:sp>
        <p:nvSpPr>
          <p:cNvPr id="8" name="TextBox 7">
            <a:extLst>
              <a:ext uri="{FF2B5EF4-FFF2-40B4-BE49-F238E27FC236}">
                <a16:creationId xmlns:a16="http://schemas.microsoft.com/office/drawing/2014/main" id="{4067F50F-4FD9-7F35-4A67-62605BB1846D}"/>
              </a:ext>
            </a:extLst>
          </p:cNvPr>
          <p:cNvSpPr txBox="1"/>
          <p:nvPr/>
        </p:nvSpPr>
        <p:spPr>
          <a:xfrm>
            <a:off x="3246966" y="4581794"/>
            <a:ext cx="2849034" cy="369332"/>
          </a:xfrm>
          <a:prstGeom prst="rect">
            <a:avLst/>
          </a:prstGeom>
          <a:noFill/>
        </p:spPr>
        <p:txBody>
          <a:bodyPr wrap="square" rtlCol="0">
            <a:spAutoFit/>
          </a:bodyPr>
          <a:lstStyle/>
          <a:p>
            <a:r>
              <a:rPr lang="en-IN" dirty="0"/>
              <a:t>Nu vs </a:t>
            </a:r>
            <a:r>
              <a:rPr lang="el-GR" dirty="0"/>
              <a:t>θ</a:t>
            </a:r>
            <a:r>
              <a:rPr lang="en-IN" dirty="0"/>
              <a:t> (</a:t>
            </a:r>
            <a:r>
              <a:rPr lang="en-IN" dirty="0" err="1"/>
              <a:t>deg</a:t>
            </a:r>
            <a:r>
              <a:rPr lang="en-IN" dirty="0"/>
              <a:t>) for Re 1000</a:t>
            </a:r>
          </a:p>
        </p:txBody>
      </p:sp>
      <p:pic>
        <p:nvPicPr>
          <p:cNvPr id="9" name="Picture 8">
            <a:extLst>
              <a:ext uri="{FF2B5EF4-FFF2-40B4-BE49-F238E27FC236}">
                <a16:creationId xmlns:a16="http://schemas.microsoft.com/office/drawing/2014/main" id="{94A8B0DC-F941-99CB-B189-CB676A72BAD9}"/>
              </a:ext>
            </a:extLst>
          </p:cNvPr>
          <p:cNvPicPr>
            <a:picLocks noChangeAspect="1"/>
          </p:cNvPicPr>
          <p:nvPr/>
        </p:nvPicPr>
        <p:blipFill>
          <a:blip r:embed="rId3" cstate="hqprint">
            <a:extLst>
              <a:ext uri="{28A0092B-C50C-407E-A947-70E740481C1C}">
                <a14:useLocalDpi xmlns:a14="http://schemas.microsoft.com/office/drawing/2010/main" val="0"/>
              </a:ext>
            </a:extLst>
          </a:blip>
          <a:stretch>
            <a:fillRect/>
          </a:stretch>
        </p:blipFill>
        <p:spPr>
          <a:xfrm>
            <a:off x="3146213" y="1939997"/>
            <a:ext cx="2747826" cy="2443122"/>
          </a:xfrm>
          <a:prstGeom prst="rect">
            <a:avLst/>
          </a:prstGeom>
        </p:spPr>
      </p:pic>
      <p:pic>
        <p:nvPicPr>
          <p:cNvPr id="13" name="Picture 12">
            <a:extLst>
              <a:ext uri="{FF2B5EF4-FFF2-40B4-BE49-F238E27FC236}">
                <a16:creationId xmlns:a16="http://schemas.microsoft.com/office/drawing/2014/main" id="{2844DAAE-4609-3C83-E15D-6F5861739BDF}"/>
              </a:ext>
            </a:extLst>
          </p:cNvPr>
          <p:cNvPicPr>
            <a:picLocks noChangeAspect="1"/>
          </p:cNvPicPr>
          <p:nvPr/>
        </p:nvPicPr>
        <p:blipFill>
          <a:blip r:embed="rId4" cstate="hqprint">
            <a:extLst>
              <a:ext uri="{28A0092B-C50C-407E-A947-70E740481C1C}">
                <a14:useLocalDpi xmlns:a14="http://schemas.microsoft.com/office/drawing/2010/main" val="0"/>
              </a:ext>
            </a:extLst>
          </a:blip>
          <a:stretch>
            <a:fillRect/>
          </a:stretch>
        </p:blipFill>
        <p:spPr>
          <a:xfrm>
            <a:off x="5964647" y="1950773"/>
            <a:ext cx="2747826" cy="2446769"/>
          </a:xfrm>
          <a:prstGeom prst="rect">
            <a:avLst/>
          </a:prstGeom>
        </p:spPr>
      </p:pic>
      <p:sp>
        <p:nvSpPr>
          <p:cNvPr id="15" name="TextBox 14">
            <a:extLst>
              <a:ext uri="{FF2B5EF4-FFF2-40B4-BE49-F238E27FC236}">
                <a16:creationId xmlns:a16="http://schemas.microsoft.com/office/drawing/2014/main" id="{0400FFF0-4D85-D3AF-FA8F-997747058894}"/>
              </a:ext>
            </a:extLst>
          </p:cNvPr>
          <p:cNvSpPr txBox="1"/>
          <p:nvPr/>
        </p:nvSpPr>
        <p:spPr>
          <a:xfrm>
            <a:off x="5964647" y="4581794"/>
            <a:ext cx="2849034" cy="369332"/>
          </a:xfrm>
          <a:prstGeom prst="rect">
            <a:avLst/>
          </a:prstGeom>
          <a:noFill/>
        </p:spPr>
        <p:txBody>
          <a:bodyPr wrap="square" rtlCol="0">
            <a:spAutoFit/>
          </a:bodyPr>
          <a:lstStyle/>
          <a:p>
            <a:r>
              <a:rPr lang="en-IN" dirty="0"/>
              <a:t>Nu vs </a:t>
            </a:r>
            <a:r>
              <a:rPr lang="el-GR" dirty="0"/>
              <a:t>θ</a:t>
            </a:r>
            <a:r>
              <a:rPr lang="en-IN" dirty="0"/>
              <a:t> (</a:t>
            </a:r>
            <a:r>
              <a:rPr lang="en-IN" dirty="0" err="1"/>
              <a:t>deg</a:t>
            </a:r>
            <a:r>
              <a:rPr lang="en-IN" dirty="0"/>
              <a:t>) for Re 10,000</a:t>
            </a:r>
          </a:p>
        </p:txBody>
      </p:sp>
      <p:pic>
        <p:nvPicPr>
          <p:cNvPr id="17" name="Picture 16">
            <a:extLst>
              <a:ext uri="{FF2B5EF4-FFF2-40B4-BE49-F238E27FC236}">
                <a16:creationId xmlns:a16="http://schemas.microsoft.com/office/drawing/2014/main" id="{234C2F95-ACCE-9793-22D0-8B8559A48FC4}"/>
              </a:ext>
            </a:extLst>
          </p:cNvPr>
          <p:cNvPicPr>
            <a:picLocks noChangeAspect="1"/>
          </p:cNvPicPr>
          <p:nvPr/>
        </p:nvPicPr>
        <p:blipFill>
          <a:blip r:embed="rId5" cstate="hqprint">
            <a:extLst>
              <a:ext uri="{28A0092B-C50C-407E-A947-70E740481C1C}">
                <a14:useLocalDpi xmlns:a14="http://schemas.microsoft.com/office/drawing/2010/main" val="0"/>
              </a:ext>
            </a:extLst>
          </a:blip>
          <a:stretch>
            <a:fillRect/>
          </a:stretch>
        </p:blipFill>
        <p:spPr>
          <a:xfrm>
            <a:off x="8757134" y="1950773"/>
            <a:ext cx="2739127" cy="2432346"/>
          </a:xfrm>
          <a:prstGeom prst="rect">
            <a:avLst/>
          </a:prstGeom>
        </p:spPr>
      </p:pic>
      <p:sp>
        <p:nvSpPr>
          <p:cNvPr id="18" name="TextBox 17">
            <a:extLst>
              <a:ext uri="{FF2B5EF4-FFF2-40B4-BE49-F238E27FC236}">
                <a16:creationId xmlns:a16="http://schemas.microsoft.com/office/drawing/2014/main" id="{0D1C947D-7B3E-4865-FF42-A8C67CDA50D8}"/>
              </a:ext>
            </a:extLst>
          </p:cNvPr>
          <p:cNvSpPr txBox="1"/>
          <p:nvPr/>
        </p:nvSpPr>
        <p:spPr>
          <a:xfrm>
            <a:off x="8712473" y="4567371"/>
            <a:ext cx="2946925" cy="369332"/>
          </a:xfrm>
          <a:prstGeom prst="rect">
            <a:avLst/>
          </a:prstGeom>
          <a:noFill/>
        </p:spPr>
        <p:txBody>
          <a:bodyPr wrap="square" rtlCol="0">
            <a:spAutoFit/>
          </a:bodyPr>
          <a:lstStyle/>
          <a:p>
            <a:r>
              <a:rPr lang="en-IN" dirty="0"/>
              <a:t>Nu vs </a:t>
            </a:r>
            <a:r>
              <a:rPr lang="el-GR" dirty="0"/>
              <a:t>θ</a:t>
            </a:r>
            <a:r>
              <a:rPr lang="en-IN" dirty="0"/>
              <a:t> (</a:t>
            </a:r>
            <a:r>
              <a:rPr lang="en-IN" dirty="0" err="1"/>
              <a:t>deg</a:t>
            </a:r>
            <a:r>
              <a:rPr lang="en-IN" dirty="0"/>
              <a:t>) for Re 1,00,000</a:t>
            </a:r>
          </a:p>
        </p:txBody>
      </p:sp>
      <p:cxnSp>
        <p:nvCxnSpPr>
          <p:cNvPr id="20" name="Straight Connector 19">
            <a:extLst>
              <a:ext uri="{FF2B5EF4-FFF2-40B4-BE49-F238E27FC236}">
                <a16:creationId xmlns:a16="http://schemas.microsoft.com/office/drawing/2014/main" id="{E5E38B5C-7DBC-109A-E60C-52AEF4BB8904}"/>
              </a:ext>
            </a:extLst>
          </p:cNvPr>
          <p:cNvCxnSpPr/>
          <p:nvPr/>
        </p:nvCxnSpPr>
        <p:spPr>
          <a:xfrm>
            <a:off x="8757134" y="4383119"/>
            <a:ext cx="2739127"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22" name="Straight Connector 21">
            <a:extLst>
              <a:ext uri="{FF2B5EF4-FFF2-40B4-BE49-F238E27FC236}">
                <a16:creationId xmlns:a16="http://schemas.microsoft.com/office/drawing/2014/main" id="{7BF18749-6CCF-963F-540B-DC6EE9AC8B48}"/>
              </a:ext>
            </a:extLst>
          </p:cNvPr>
          <p:cNvCxnSpPr/>
          <p:nvPr/>
        </p:nvCxnSpPr>
        <p:spPr>
          <a:xfrm>
            <a:off x="11496261" y="1950773"/>
            <a:ext cx="0" cy="2446769"/>
          </a:xfrm>
          <a:prstGeom prst="line">
            <a:avLst/>
          </a:prstGeom>
        </p:spPr>
        <p:style>
          <a:lnRef idx="1">
            <a:schemeClr val="accent1"/>
          </a:lnRef>
          <a:fillRef idx="0">
            <a:schemeClr val="accent1"/>
          </a:fillRef>
          <a:effectRef idx="0">
            <a:schemeClr val="accent1"/>
          </a:effectRef>
          <a:fontRef idx="minor">
            <a:schemeClr val="tx1"/>
          </a:fontRef>
        </p:style>
      </p:cxnSp>
      <p:cxnSp>
        <p:nvCxnSpPr>
          <p:cNvPr id="16" name="Straight Connector 15"/>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7456178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B17656-BF14-E6F6-2EE9-A5828A73EA1C}"/>
              </a:ext>
            </a:extLst>
          </p:cNvPr>
          <p:cNvSpPr>
            <a:spLocks noGrp="1"/>
          </p:cNvSpPr>
          <p:nvPr>
            <p:ph type="title"/>
          </p:nvPr>
        </p:nvSpPr>
        <p:spPr>
          <a:xfrm>
            <a:off x="838199" y="1"/>
            <a:ext cx="10515600" cy="793102"/>
          </a:xfrm>
        </p:spPr>
        <p:txBody>
          <a:bodyPr/>
          <a:lstStyle/>
          <a:p>
            <a:pPr algn="ctr"/>
            <a:r>
              <a:rPr lang="en-IN" dirty="0"/>
              <a:t> </a:t>
            </a:r>
            <a:r>
              <a:rPr lang="en-IN" sz="3600" b="1" dirty="0">
                <a:latin typeface="Times New Roman" panose="02020603050405020304" pitchFamily="18" charset="0"/>
                <a:cs typeface="Times New Roman" panose="02020603050405020304" pitchFamily="18" charset="0"/>
              </a:rPr>
              <a:t>Pressure Coefficient</a:t>
            </a:r>
          </a:p>
        </p:txBody>
      </p:sp>
      <p:sp>
        <p:nvSpPr>
          <p:cNvPr id="3" name="Slide Number Placeholder 2">
            <a:extLst>
              <a:ext uri="{FF2B5EF4-FFF2-40B4-BE49-F238E27FC236}">
                <a16:creationId xmlns:a16="http://schemas.microsoft.com/office/drawing/2014/main" id="{6ACDC6E9-5BF5-7515-8F83-08B7EB1D6251}"/>
              </a:ext>
            </a:extLst>
          </p:cNvPr>
          <p:cNvSpPr>
            <a:spLocks noGrp="1"/>
          </p:cNvSpPr>
          <p:nvPr>
            <p:ph type="sldNum" sz="quarter" idx="10"/>
          </p:nvPr>
        </p:nvSpPr>
        <p:spPr/>
        <p:txBody>
          <a:bodyPr/>
          <a:lstStyle/>
          <a:p>
            <a:fld id="{98045765-9D82-4A4A-9458-B21A2E924861}" type="slidenum">
              <a:rPr lang="en-US" smtClean="0"/>
              <a:t>15</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515BE9B2-3592-0D68-9C89-EEFE11002A4A}"/>
                  </a:ext>
                </a:extLst>
              </p:cNvPr>
              <p:cNvSpPr txBox="1"/>
              <p:nvPr/>
            </p:nvSpPr>
            <p:spPr>
              <a:xfrm>
                <a:off x="1299273" y="793103"/>
                <a:ext cx="9593451" cy="990015"/>
              </a:xfrm>
              <a:prstGeom prst="rect">
                <a:avLst/>
              </a:prstGeom>
              <a:noFill/>
            </p:spPr>
            <p:txBody>
              <a:bodyPr wrap="square" rtlCol="0">
                <a:spAutoFit/>
              </a:bodyPr>
              <a:lstStyle/>
              <a:p>
                <a:r>
                  <a:rPr lang="en-US" sz="1400" b="1" dirty="0"/>
                  <a:t>🔹 Pressure Coefficient(</a:t>
                </a:r>
                <a14:m>
                  <m:oMath xmlns:m="http://schemas.openxmlformats.org/officeDocument/2006/math">
                    <m:sSub>
                      <m:sSubPr>
                        <m:ctrlPr>
                          <a:rPr lang="en-US" sz="1400" b="1" i="1">
                            <a:latin typeface="Cambria Math" panose="02040503050406030204" pitchFamily="18" charset="0"/>
                          </a:rPr>
                        </m:ctrlPr>
                      </m:sSubPr>
                      <m:e>
                        <m:r>
                          <a:rPr lang="en-IN" sz="1400" b="1" i="1">
                            <a:latin typeface="Cambria Math" panose="02040503050406030204" pitchFamily="18" charset="0"/>
                          </a:rPr>
                          <m:t>𝑪</m:t>
                        </m:r>
                      </m:e>
                      <m:sub>
                        <m:r>
                          <a:rPr lang="en-IN" sz="1400" b="1" i="1">
                            <a:latin typeface="Cambria Math" panose="02040503050406030204" pitchFamily="18" charset="0"/>
                          </a:rPr>
                          <m:t>𝒑</m:t>
                        </m:r>
                      </m:sub>
                    </m:sSub>
                  </m:oMath>
                </a14:m>
                <a:r>
                  <a:rPr lang="en-US" sz="1400" b="1" dirty="0"/>
                  <a:t>)</a:t>
                </a:r>
              </a:p>
              <a:p>
                <a:pPr marL="285750" indent="-285750">
                  <a:buFont typeface="Wingdings" panose="05000000000000000000" pitchFamily="2" charset="2"/>
                  <a:buChar char="ü"/>
                </a:pPr>
                <a:r>
                  <a:rPr lang="en-IN" sz="1400" dirty="0"/>
                  <a:t>The pressure coefficient </a:t>
                </a:r>
                <a14:m>
                  <m:oMath xmlns:m="http://schemas.openxmlformats.org/officeDocument/2006/math">
                    <m:sSub>
                      <m:sSubPr>
                        <m:ctrlPr>
                          <a:rPr lang="ar-AE" sz="1400" i="1">
                            <a:latin typeface="Cambria Math" panose="02040503050406030204" pitchFamily="18" charset="0"/>
                          </a:rPr>
                        </m:ctrlPr>
                      </m:sSubPr>
                      <m:e>
                        <m:r>
                          <a:rPr lang="ar-AE" sz="1400" i="1">
                            <a:latin typeface="Cambria Math" panose="02040503050406030204" pitchFamily="18" charset="0"/>
                          </a:rPr>
                          <m:t>𝐶</m:t>
                        </m:r>
                      </m:e>
                      <m:sub>
                        <m:r>
                          <a:rPr lang="ar-AE" sz="1400" i="1">
                            <a:latin typeface="Cambria Math" panose="02040503050406030204" pitchFamily="18" charset="0"/>
                          </a:rPr>
                          <m:t>𝑝</m:t>
                        </m:r>
                      </m:sub>
                    </m:sSub>
                  </m:oMath>
                </a14:m>
                <a:r>
                  <a:rPr lang="en-IN" sz="1400" dirty="0"/>
                  <a:t>shows high values at the front stagnation point (</a:t>
                </a:r>
                <a:r>
                  <a:rPr lang="el-GR" sz="1400" dirty="0"/>
                  <a:t>θ = 0°), </a:t>
                </a:r>
                <a:r>
                  <a:rPr lang="en-IN" sz="1400" dirty="0"/>
                  <a:t>drops sharply along the sides, and rises again at the rear, with the rise becoming smoother and weaker as Ha increases due to Lorentz damping of separation</a:t>
                </a:r>
                <a:endParaRPr lang="en-US" sz="1400" dirty="0"/>
              </a:p>
              <a:p>
                <a:pPr marL="285750" indent="-285750">
                  <a:buFont typeface="Wingdings" panose="05000000000000000000" pitchFamily="2" charset="2"/>
                  <a:buChar char="ü"/>
                </a:pPr>
                <a:endParaRPr lang="en-IN" sz="1400" dirty="0"/>
              </a:p>
            </p:txBody>
          </p:sp>
        </mc:Choice>
        <mc:Fallback xmlns="">
          <p:sp>
            <p:nvSpPr>
              <p:cNvPr id="4" name="TextBox 3">
                <a:extLst>
                  <a:ext uri="{FF2B5EF4-FFF2-40B4-BE49-F238E27FC236}">
                    <a16:creationId xmlns:a16="http://schemas.microsoft.com/office/drawing/2014/main" id="{515BE9B2-3592-0D68-9C89-EEFE11002A4A}"/>
                  </a:ext>
                </a:extLst>
              </p:cNvPr>
              <p:cNvSpPr txBox="1">
                <a:spLocks noRot="1" noChangeAspect="1" noMove="1" noResize="1" noEditPoints="1" noAdjustHandles="1" noChangeArrowheads="1" noChangeShapeType="1" noTextEdit="1"/>
              </p:cNvSpPr>
              <p:nvPr/>
            </p:nvSpPr>
            <p:spPr>
              <a:xfrm>
                <a:off x="1299273" y="793103"/>
                <a:ext cx="9593451" cy="990015"/>
              </a:xfrm>
              <a:prstGeom prst="rect">
                <a:avLst/>
              </a:prstGeom>
              <a:blipFill>
                <a:blip r:embed="rId2"/>
                <a:stretch>
                  <a:fillRect l="-191" t="-1840"/>
                </a:stretch>
              </a:blipFill>
            </p:spPr>
            <p:txBody>
              <a:bodyPr/>
              <a:lstStyle/>
              <a:p>
                <a:r>
                  <a:rPr lang="en-US">
                    <a:noFill/>
                  </a:rPr>
                  <a:t> </a:t>
                </a:r>
              </a:p>
            </p:txBody>
          </p:sp>
        </mc:Fallback>
      </mc:AlternateContent>
      <p:pic>
        <p:nvPicPr>
          <p:cNvPr id="14" name="Picture 13">
            <a:extLst>
              <a:ext uri="{FF2B5EF4-FFF2-40B4-BE49-F238E27FC236}">
                <a16:creationId xmlns:a16="http://schemas.microsoft.com/office/drawing/2014/main" id="{C83788D2-0A1C-3F72-EF68-8CBE5BEBD116}"/>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926499" y="2256416"/>
            <a:ext cx="3118234" cy="2773145"/>
          </a:xfrm>
          <a:prstGeom prst="rect">
            <a:avLst/>
          </a:prstGeom>
        </p:spPr>
      </p:pic>
      <p:pic>
        <p:nvPicPr>
          <p:cNvPr id="6" name="Picture 5">
            <a:extLst>
              <a:ext uri="{FF2B5EF4-FFF2-40B4-BE49-F238E27FC236}">
                <a16:creationId xmlns:a16="http://schemas.microsoft.com/office/drawing/2014/main" id="{F76F2F90-5CEB-622D-D70C-4852386A102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1652821" y="2179149"/>
            <a:ext cx="3118235" cy="2774197"/>
          </a:xfrm>
          <a:prstGeom prst="rect">
            <a:avLst/>
          </a:prstGeom>
        </p:spPr>
      </p:pic>
      <p:cxnSp>
        <p:nvCxnSpPr>
          <p:cNvPr id="10" name="Straight Connector 9">
            <a:extLst>
              <a:ext uri="{FF2B5EF4-FFF2-40B4-BE49-F238E27FC236}">
                <a16:creationId xmlns:a16="http://schemas.microsoft.com/office/drawing/2014/main" id="{020A59BD-2E3B-931D-B8AB-0BFFF0D51690}"/>
              </a:ext>
            </a:extLst>
          </p:cNvPr>
          <p:cNvCxnSpPr>
            <a:cxnSpLocks/>
          </p:cNvCxnSpPr>
          <p:nvPr/>
        </p:nvCxnSpPr>
        <p:spPr>
          <a:xfrm>
            <a:off x="1652820" y="4958154"/>
            <a:ext cx="3118235"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3" name="Straight Connector 12">
            <a:extLst>
              <a:ext uri="{FF2B5EF4-FFF2-40B4-BE49-F238E27FC236}">
                <a16:creationId xmlns:a16="http://schemas.microsoft.com/office/drawing/2014/main" id="{9ED674B5-5D7B-AE24-614D-B33059A271E4}"/>
              </a:ext>
            </a:extLst>
          </p:cNvPr>
          <p:cNvCxnSpPr/>
          <p:nvPr/>
        </p:nvCxnSpPr>
        <p:spPr>
          <a:xfrm>
            <a:off x="4771056" y="2180201"/>
            <a:ext cx="0" cy="2773145"/>
          </a:xfrm>
          <a:prstGeom prst="line">
            <a:avLst/>
          </a:prstGeom>
        </p:spPr>
        <p:style>
          <a:lnRef idx="1">
            <a:schemeClr val="accent1"/>
          </a:lnRef>
          <a:fillRef idx="0">
            <a:schemeClr val="accent1"/>
          </a:fillRef>
          <a:effectRef idx="0">
            <a:schemeClr val="accent1"/>
          </a:effectRef>
          <a:fontRef idx="minor">
            <a:schemeClr val="tx1"/>
          </a:fontRef>
        </p:style>
      </p:cxnSp>
      <p:sp>
        <p:nvSpPr>
          <p:cNvPr id="16" name="TextBox 15">
            <a:extLst>
              <a:ext uri="{FF2B5EF4-FFF2-40B4-BE49-F238E27FC236}">
                <a16:creationId xmlns:a16="http://schemas.microsoft.com/office/drawing/2014/main" id="{15CF32F1-2CF4-FF81-D328-9FFB5E4ED80B}"/>
              </a:ext>
            </a:extLst>
          </p:cNvPr>
          <p:cNvSpPr txBox="1"/>
          <p:nvPr/>
        </p:nvSpPr>
        <p:spPr>
          <a:xfrm>
            <a:off x="1922023" y="5418338"/>
            <a:ext cx="2849034" cy="369332"/>
          </a:xfrm>
          <a:prstGeom prst="rect">
            <a:avLst/>
          </a:prstGeom>
          <a:noFill/>
        </p:spPr>
        <p:txBody>
          <a:bodyPr wrap="square" rtlCol="0">
            <a:spAutoFit/>
          </a:bodyPr>
          <a:lstStyle/>
          <a:p>
            <a:r>
              <a:rPr lang="en-IN" dirty="0"/>
              <a:t>Cp vs </a:t>
            </a:r>
            <a:r>
              <a:rPr lang="el-GR" dirty="0"/>
              <a:t>θ</a:t>
            </a:r>
            <a:r>
              <a:rPr lang="en-IN" dirty="0"/>
              <a:t> (</a:t>
            </a:r>
            <a:r>
              <a:rPr lang="en-IN" dirty="0" err="1"/>
              <a:t>deg</a:t>
            </a:r>
            <a:r>
              <a:rPr lang="en-IN" dirty="0"/>
              <a:t>) for Re 10,000</a:t>
            </a:r>
          </a:p>
        </p:txBody>
      </p:sp>
      <p:sp>
        <p:nvSpPr>
          <p:cNvPr id="17" name="TextBox 16">
            <a:extLst>
              <a:ext uri="{FF2B5EF4-FFF2-40B4-BE49-F238E27FC236}">
                <a16:creationId xmlns:a16="http://schemas.microsoft.com/office/drawing/2014/main" id="{1660817A-0691-C671-4A20-00FBB75E65D6}"/>
              </a:ext>
            </a:extLst>
          </p:cNvPr>
          <p:cNvSpPr txBox="1"/>
          <p:nvPr/>
        </p:nvSpPr>
        <p:spPr>
          <a:xfrm>
            <a:off x="6926499" y="5418338"/>
            <a:ext cx="2849034" cy="369332"/>
          </a:xfrm>
          <a:prstGeom prst="rect">
            <a:avLst/>
          </a:prstGeom>
          <a:noFill/>
        </p:spPr>
        <p:txBody>
          <a:bodyPr wrap="square" rtlCol="0">
            <a:spAutoFit/>
          </a:bodyPr>
          <a:lstStyle/>
          <a:p>
            <a:r>
              <a:rPr lang="en-IN" dirty="0"/>
              <a:t>Cp vs </a:t>
            </a:r>
            <a:r>
              <a:rPr lang="el-GR" dirty="0"/>
              <a:t>θ</a:t>
            </a:r>
            <a:r>
              <a:rPr lang="en-IN" dirty="0"/>
              <a:t> (</a:t>
            </a:r>
            <a:r>
              <a:rPr lang="en-IN" dirty="0" err="1"/>
              <a:t>deg</a:t>
            </a:r>
            <a:r>
              <a:rPr lang="en-IN" dirty="0"/>
              <a:t>) for Re 1,00,000</a:t>
            </a:r>
          </a:p>
        </p:txBody>
      </p:sp>
      <p:cxnSp>
        <p:nvCxnSpPr>
          <p:cNvPr id="11" name="Straight Connector 10"/>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93401231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F796387D-BCEE-5991-EE17-EAB5D90EEC82}"/>
              </a:ext>
            </a:extLst>
          </p:cNvPr>
          <p:cNvSpPr>
            <a:spLocks noGrp="1"/>
          </p:cNvSpPr>
          <p:nvPr>
            <p:ph type="sldNum" sz="quarter" idx="10"/>
          </p:nvPr>
        </p:nvSpPr>
        <p:spPr/>
        <p:txBody>
          <a:bodyPr/>
          <a:lstStyle/>
          <a:p>
            <a:fld id="{98045765-9D82-4A4A-9458-B21A2E924861}" type="slidenum">
              <a:rPr lang="en-US" smtClean="0"/>
              <a:t>16</a:t>
            </a:fld>
            <a:endParaRPr lang="en-US"/>
          </a:p>
        </p:txBody>
      </p:sp>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B7073F4F-AF0F-6C6D-75B8-D6D51577592D}"/>
                  </a:ext>
                </a:extLst>
              </p:cNvPr>
              <p:cNvSpPr txBox="1"/>
              <p:nvPr/>
            </p:nvSpPr>
            <p:spPr>
              <a:xfrm>
                <a:off x="2646322" y="5419367"/>
                <a:ext cx="2491291" cy="369332"/>
              </a:xfrm>
              <a:prstGeom prst="rect">
                <a:avLst/>
              </a:prstGeom>
              <a:noFill/>
            </p:spPr>
            <p:txBody>
              <a:bodyPr wrap="square" rtlCol="0">
                <a:spAutoFit/>
              </a:bodyPr>
              <a:lstStyle/>
              <a:p>
                <a:r>
                  <a:rPr lang="en-IN" dirty="0"/>
                  <a:t> </a:t>
                </a:r>
                <a14:m>
                  <m:oMath xmlns:m="http://schemas.openxmlformats.org/officeDocument/2006/math">
                    <m:sSub>
                      <m:sSubPr>
                        <m:ctrlPr>
                          <a:rPr lang="en-IN" i="1" smtClean="0">
                            <a:latin typeface="Cambria Math" panose="02040503050406030204" pitchFamily="18" charset="0"/>
                          </a:rPr>
                        </m:ctrlPr>
                      </m:sSubPr>
                      <m:e>
                        <m:r>
                          <a:rPr lang="en-IN" b="0" i="1" smtClean="0">
                            <a:latin typeface="Cambria Math" panose="02040503050406030204" pitchFamily="18" charset="0"/>
                          </a:rPr>
                          <m:t>𝐶</m:t>
                        </m:r>
                      </m:e>
                      <m:sub>
                        <m:r>
                          <a:rPr lang="en-IN" b="0" i="1" smtClean="0">
                            <a:latin typeface="Cambria Math" panose="02040503050406030204" pitchFamily="18" charset="0"/>
                          </a:rPr>
                          <m:t>𝑙</m:t>
                        </m:r>
                      </m:sub>
                    </m:sSub>
                  </m:oMath>
                </a14:m>
                <a:r>
                  <a:rPr lang="en-IN" dirty="0"/>
                  <a:t> vs Hartman Number</a:t>
                </a:r>
              </a:p>
            </p:txBody>
          </p:sp>
        </mc:Choice>
        <mc:Fallback xmlns="">
          <p:sp>
            <p:nvSpPr>
              <p:cNvPr id="4" name="TextBox 3">
                <a:extLst>
                  <a:ext uri="{FF2B5EF4-FFF2-40B4-BE49-F238E27FC236}">
                    <a16:creationId xmlns:a16="http://schemas.microsoft.com/office/drawing/2014/main" id="{B7073F4F-AF0F-6C6D-75B8-D6D51577592D}"/>
                  </a:ext>
                </a:extLst>
              </p:cNvPr>
              <p:cNvSpPr txBox="1">
                <a:spLocks noRot="1" noChangeAspect="1" noMove="1" noResize="1" noEditPoints="1" noAdjustHandles="1" noChangeArrowheads="1" noChangeShapeType="1" noTextEdit="1"/>
              </p:cNvSpPr>
              <p:nvPr/>
            </p:nvSpPr>
            <p:spPr>
              <a:xfrm>
                <a:off x="2646322" y="5419367"/>
                <a:ext cx="2491291" cy="369332"/>
              </a:xfrm>
              <a:prstGeom prst="rect">
                <a:avLst/>
              </a:prstGeom>
              <a:blipFill>
                <a:blip r:embed="rId2"/>
                <a:stretch>
                  <a:fillRect t="-8197" b="-24590"/>
                </a:stretch>
              </a:blipFill>
            </p:spPr>
            <p:txBody>
              <a:bodyPr/>
              <a:lstStyle/>
              <a:p>
                <a:r>
                  <a:rPr lang="en-IN">
                    <a:noFill/>
                  </a:rPr>
                  <a:t> </a:t>
                </a:r>
              </a:p>
            </p:txBody>
          </p:sp>
        </mc:Fallback>
      </mc:AlternateContent>
      <p:pic>
        <p:nvPicPr>
          <p:cNvPr id="7" name="Picture 6">
            <a:extLst>
              <a:ext uri="{FF2B5EF4-FFF2-40B4-BE49-F238E27FC236}">
                <a16:creationId xmlns:a16="http://schemas.microsoft.com/office/drawing/2014/main" id="{70B39665-1416-9FDE-BF21-A5D4577E6C9F}"/>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411990" y="2754010"/>
            <a:ext cx="2959954" cy="2631727"/>
          </a:xfrm>
          <a:prstGeom prst="rect">
            <a:avLst/>
          </a:prstGeom>
        </p:spPr>
      </p:pic>
      <p:pic>
        <p:nvPicPr>
          <p:cNvPr id="12" name="Picture 11">
            <a:extLst>
              <a:ext uri="{FF2B5EF4-FFF2-40B4-BE49-F238E27FC236}">
                <a16:creationId xmlns:a16="http://schemas.microsoft.com/office/drawing/2014/main" id="{F68D9682-A0E6-992F-3DE6-4187E861AEC2}"/>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350724" y="2754010"/>
            <a:ext cx="2959954" cy="2631727"/>
          </a:xfrm>
          <a:prstGeom prst="rect">
            <a:avLst/>
          </a:prstGeom>
        </p:spPr>
      </p:pic>
      <mc:AlternateContent xmlns:mc="http://schemas.openxmlformats.org/markup-compatibility/2006" xmlns:a14="http://schemas.microsoft.com/office/drawing/2010/main">
        <mc:Choice Requires="a14">
          <p:sp>
            <p:nvSpPr>
              <p:cNvPr id="13" name="TextBox 12">
                <a:extLst>
                  <a:ext uri="{FF2B5EF4-FFF2-40B4-BE49-F238E27FC236}">
                    <a16:creationId xmlns:a16="http://schemas.microsoft.com/office/drawing/2014/main" id="{018AE5E7-2622-80B5-3351-BD0A15A587A7}"/>
                  </a:ext>
                </a:extLst>
              </p:cNvPr>
              <p:cNvSpPr txBox="1"/>
              <p:nvPr/>
            </p:nvSpPr>
            <p:spPr>
              <a:xfrm>
                <a:off x="7742806" y="5385737"/>
                <a:ext cx="2382473" cy="369332"/>
              </a:xfrm>
              <a:prstGeom prst="rect">
                <a:avLst/>
              </a:prstGeom>
              <a:noFill/>
            </p:spPr>
            <p:txBody>
              <a:bodyPr wrap="square" rtlCol="0">
                <a:spAutoFit/>
              </a:bodyPr>
              <a:lstStyle/>
              <a:p>
                <a14:m>
                  <m:oMath xmlns:m="http://schemas.openxmlformats.org/officeDocument/2006/math">
                    <m:sSub>
                      <m:sSubPr>
                        <m:ctrlPr>
                          <a:rPr lang="en-IN" i="1" smtClean="0">
                            <a:latin typeface="Cambria Math" panose="02040503050406030204" pitchFamily="18" charset="0"/>
                          </a:rPr>
                        </m:ctrlPr>
                      </m:sSubPr>
                      <m:e>
                        <m:r>
                          <a:rPr lang="en-IN" i="1">
                            <a:latin typeface="Cambria Math" panose="02040503050406030204" pitchFamily="18" charset="0"/>
                          </a:rPr>
                          <m:t>𝐶</m:t>
                        </m:r>
                      </m:e>
                      <m:sub>
                        <m:r>
                          <a:rPr lang="en-IN" i="1">
                            <a:latin typeface="Cambria Math" panose="02040503050406030204" pitchFamily="18" charset="0"/>
                          </a:rPr>
                          <m:t>𝑑</m:t>
                        </m:r>
                      </m:sub>
                    </m:sSub>
                    <m:r>
                      <a:rPr lang="en-IN" i="1">
                        <a:latin typeface="Cambria Math" panose="02040503050406030204" pitchFamily="18" charset="0"/>
                      </a:rPr>
                      <m:t> </m:t>
                    </m:r>
                  </m:oMath>
                </a14:m>
                <a:r>
                  <a:rPr lang="en-IN" dirty="0"/>
                  <a:t>vs Hartman Number</a:t>
                </a:r>
              </a:p>
            </p:txBody>
          </p:sp>
        </mc:Choice>
        <mc:Fallback xmlns="">
          <p:sp>
            <p:nvSpPr>
              <p:cNvPr id="13" name="TextBox 12">
                <a:extLst>
                  <a:ext uri="{FF2B5EF4-FFF2-40B4-BE49-F238E27FC236}">
                    <a16:creationId xmlns:a16="http://schemas.microsoft.com/office/drawing/2014/main" id="{018AE5E7-2622-80B5-3351-BD0A15A587A7}"/>
                  </a:ext>
                </a:extLst>
              </p:cNvPr>
              <p:cNvSpPr txBox="1">
                <a:spLocks noRot="1" noChangeAspect="1" noMove="1" noResize="1" noEditPoints="1" noAdjustHandles="1" noChangeArrowheads="1" noChangeShapeType="1" noTextEdit="1"/>
              </p:cNvSpPr>
              <p:nvPr/>
            </p:nvSpPr>
            <p:spPr>
              <a:xfrm>
                <a:off x="7742806" y="5385737"/>
                <a:ext cx="2382473" cy="369332"/>
              </a:xfrm>
              <a:prstGeom prst="rect">
                <a:avLst/>
              </a:prstGeom>
              <a:blipFill>
                <a:blip r:embed="rId5"/>
                <a:stretch>
                  <a:fillRect t="-8197" r="-1535" b="-24590"/>
                </a:stretch>
              </a:blipFill>
            </p:spPr>
            <p:txBody>
              <a:bodyPr/>
              <a:lstStyle/>
              <a:p>
                <a:r>
                  <a:rPr lang="en-IN">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6353F3-90C8-4A83-E364-6F1363875C51}"/>
                  </a:ext>
                </a:extLst>
              </p:cNvPr>
              <p:cNvSpPr txBox="1"/>
              <p:nvPr/>
            </p:nvSpPr>
            <p:spPr>
              <a:xfrm>
                <a:off x="1505886" y="852311"/>
                <a:ext cx="10007934" cy="1815882"/>
              </a:xfrm>
              <a:prstGeom prst="rect">
                <a:avLst/>
              </a:prstGeom>
              <a:noFill/>
            </p:spPr>
            <p:txBody>
              <a:bodyPr wrap="square">
                <a:spAutoFit/>
              </a:bodyPr>
              <a:lstStyle/>
              <a:p>
                <a:r>
                  <a:rPr lang="en-US" sz="1400" b="1" dirty="0"/>
                  <a:t>🔹 Lift Coefficient (</a:t>
                </a:r>
                <a14:m>
                  <m:oMath xmlns:m="http://schemas.openxmlformats.org/officeDocument/2006/math">
                    <m:sSub>
                      <m:sSubPr>
                        <m:ctrlPr>
                          <a:rPr lang="en-US" sz="1400" b="1" i="1" smtClean="0">
                            <a:latin typeface="Cambria Math" panose="02040503050406030204" pitchFamily="18" charset="0"/>
                          </a:rPr>
                        </m:ctrlPr>
                      </m:sSubPr>
                      <m:e>
                        <m:r>
                          <a:rPr lang="en-IN" sz="1400" b="1" i="1" smtClean="0">
                            <a:latin typeface="Cambria Math" panose="02040503050406030204" pitchFamily="18" charset="0"/>
                          </a:rPr>
                          <m:t>𝑪</m:t>
                        </m:r>
                      </m:e>
                      <m:sub>
                        <m:r>
                          <a:rPr lang="en-IN" sz="1400" b="1" i="1" smtClean="0">
                            <a:latin typeface="Cambria Math" panose="02040503050406030204" pitchFamily="18" charset="0"/>
                          </a:rPr>
                          <m:t>𝒍</m:t>
                        </m:r>
                      </m:sub>
                    </m:sSub>
                  </m:oMath>
                </a14:m>
                <a:r>
                  <a:rPr lang="en-US" sz="1400" b="1" dirty="0"/>
                  <a:t>)</a:t>
                </a:r>
              </a:p>
              <a:p>
                <a:pPr marL="285750" indent="-285750">
                  <a:buFont typeface="Wingdings" panose="05000000000000000000" pitchFamily="2" charset="2"/>
                  <a:buChar char="ü"/>
                </a:pPr>
                <a:r>
                  <a:rPr lang="en-US" sz="1400" dirty="0"/>
                  <a:t>The lift coefficient fluctuations diminish steadily as Ha increases.</a:t>
                </a:r>
              </a:p>
              <a:p>
                <a:pPr marL="285750" indent="-285750">
                  <a:buFont typeface="Wingdings" panose="05000000000000000000" pitchFamily="2" charset="2"/>
                  <a:buChar char="ü"/>
                </a:pPr>
                <a:r>
                  <a:rPr lang="en-US" sz="1400" dirty="0"/>
                  <a:t> The suppression of unsteady lift forces demonstrates the stabilizing role of the magnetic field on vortex shedding. </a:t>
                </a:r>
              </a:p>
              <a:p>
                <a:pPr marL="285750" indent="-285750">
                  <a:buFont typeface="Wingdings" panose="05000000000000000000" pitchFamily="2" charset="2"/>
                  <a:buChar char="ü"/>
                </a:pPr>
                <a:r>
                  <a:rPr lang="en-US" sz="1400" dirty="0"/>
                  <a:t>At high Ha, the wake becomes symmetric, and Cl approaches nearly steady values.</a:t>
                </a:r>
              </a:p>
              <a:p>
                <a:r>
                  <a:rPr lang="en-US" sz="1400" b="1" dirty="0"/>
                  <a:t>🔹 Drag Coefficient (</a:t>
                </a:r>
                <a14:m>
                  <m:oMath xmlns:m="http://schemas.openxmlformats.org/officeDocument/2006/math">
                    <m:sSub>
                      <m:sSubPr>
                        <m:ctrlPr>
                          <a:rPr lang="en-US" sz="1400" b="1" i="1" smtClean="0">
                            <a:latin typeface="Cambria Math" panose="02040503050406030204" pitchFamily="18" charset="0"/>
                          </a:rPr>
                        </m:ctrlPr>
                      </m:sSubPr>
                      <m:e>
                        <m:r>
                          <a:rPr lang="en-IN" sz="1400" b="1" i="1" smtClean="0">
                            <a:latin typeface="Cambria Math" panose="02040503050406030204" pitchFamily="18" charset="0"/>
                          </a:rPr>
                          <m:t>𝑪</m:t>
                        </m:r>
                      </m:e>
                      <m:sub>
                        <m:r>
                          <a:rPr lang="en-IN" sz="1400" b="1" i="1" smtClean="0">
                            <a:latin typeface="Cambria Math" panose="02040503050406030204" pitchFamily="18" charset="0"/>
                          </a:rPr>
                          <m:t>𝒅</m:t>
                        </m:r>
                      </m:sub>
                    </m:sSub>
                  </m:oMath>
                </a14:m>
                <a:r>
                  <a:rPr lang="en-US" sz="1400" b="1" dirty="0"/>
                  <a:t>)</a:t>
                </a:r>
              </a:p>
              <a:p>
                <a:pPr marL="285750" indent="-285750">
                  <a:buFont typeface="Wingdings" panose="05000000000000000000" pitchFamily="2" charset="2"/>
                  <a:buChar char="ü"/>
                </a:pPr>
                <a:r>
                  <a:rPr lang="en-US" sz="1400" dirty="0"/>
                  <a:t>Lorentz force resists the motion of the conducting fluid. This adds an electromagnetic drag component to the usual viscous + pressure drag.</a:t>
                </a:r>
              </a:p>
              <a:p>
                <a:pPr marL="285750" indent="-285750">
                  <a:buFont typeface="Wingdings" panose="05000000000000000000" pitchFamily="2" charset="2"/>
                  <a:buChar char="ü"/>
                </a:pPr>
                <a:r>
                  <a:rPr lang="en-US" sz="1400" dirty="0"/>
                  <a:t>The stronger the magnetic field (higher Ha), the stronger this damping → so Cd rises.</a:t>
                </a:r>
              </a:p>
            </p:txBody>
          </p:sp>
        </mc:Choice>
        <mc:Fallback xmlns="">
          <p:sp>
            <p:nvSpPr>
              <p:cNvPr id="5" name="TextBox 4">
                <a:extLst>
                  <a:ext uri="{FF2B5EF4-FFF2-40B4-BE49-F238E27FC236}">
                    <a16:creationId xmlns:a16="http://schemas.microsoft.com/office/drawing/2014/main" id="{FF6353F3-90C8-4A83-E364-6F1363875C51}"/>
                  </a:ext>
                </a:extLst>
              </p:cNvPr>
              <p:cNvSpPr txBox="1">
                <a:spLocks noRot="1" noChangeAspect="1" noMove="1" noResize="1" noEditPoints="1" noAdjustHandles="1" noChangeArrowheads="1" noChangeShapeType="1" noTextEdit="1"/>
              </p:cNvSpPr>
              <p:nvPr/>
            </p:nvSpPr>
            <p:spPr>
              <a:xfrm>
                <a:off x="1505886" y="852311"/>
                <a:ext cx="10007934" cy="1815882"/>
              </a:xfrm>
              <a:prstGeom prst="rect">
                <a:avLst/>
              </a:prstGeom>
              <a:blipFill>
                <a:blip r:embed="rId6"/>
                <a:stretch>
                  <a:fillRect l="-183" t="-1007" b="-2349"/>
                </a:stretch>
              </a:blipFill>
            </p:spPr>
            <p:txBody>
              <a:bodyPr/>
              <a:lstStyle/>
              <a:p>
                <a:r>
                  <a:rPr lang="en-US">
                    <a:noFill/>
                  </a:rPr>
                  <a:t> </a:t>
                </a:r>
              </a:p>
            </p:txBody>
          </p:sp>
        </mc:Fallback>
      </mc:AlternateContent>
      <p:sp>
        <p:nvSpPr>
          <p:cNvPr id="6" name="Title 1">
            <a:extLst>
              <a:ext uri="{FF2B5EF4-FFF2-40B4-BE49-F238E27FC236}">
                <a16:creationId xmlns:a16="http://schemas.microsoft.com/office/drawing/2014/main" id="{821FC710-C064-149B-FAA1-0E35E0BB7D8E}"/>
              </a:ext>
            </a:extLst>
          </p:cNvPr>
          <p:cNvSpPr>
            <a:spLocks noGrp="1"/>
          </p:cNvSpPr>
          <p:nvPr>
            <p:ph type="title"/>
          </p:nvPr>
        </p:nvSpPr>
        <p:spPr>
          <a:xfrm>
            <a:off x="838200" y="1"/>
            <a:ext cx="10515600" cy="737118"/>
          </a:xfrm>
        </p:spPr>
        <p:txBody>
          <a:bodyPr>
            <a:normAutofit/>
          </a:bodyPr>
          <a:lstStyle/>
          <a:p>
            <a:pPr algn="ctr"/>
            <a:r>
              <a:rPr lang="en-IN" sz="3600" b="1" dirty="0">
                <a:latin typeface="Times New Roman" panose="02020603050405020304" pitchFamily="18" charset="0"/>
                <a:cs typeface="Times New Roman" panose="02020603050405020304" pitchFamily="18" charset="0"/>
              </a:rPr>
              <a:t>Drag &amp; Lift Behaviour</a:t>
            </a:r>
          </a:p>
        </p:txBody>
      </p:sp>
      <p:cxnSp>
        <p:nvCxnSpPr>
          <p:cNvPr id="10" name="Straight Connector 9"/>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9934197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721D05-0FBF-0290-39DE-9A963C9B13CD}"/>
              </a:ext>
            </a:extLst>
          </p:cNvPr>
          <p:cNvSpPr>
            <a:spLocks noGrp="1"/>
          </p:cNvSpPr>
          <p:nvPr>
            <p:ph type="title"/>
          </p:nvPr>
        </p:nvSpPr>
        <p:spPr>
          <a:xfrm>
            <a:off x="777147" y="72796"/>
            <a:ext cx="10515600" cy="586597"/>
          </a:xfrm>
        </p:spPr>
        <p:txBody>
          <a:bodyPr>
            <a:normAutofit/>
          </a:bodyPr>
          <a:lstStyle/>
          <a:p>
            <a:pPr algn="ctr"/>
            <a:r>
              <a:rPr lang="en-IN" sz="3600" b="1" dirty="0">
                <a:latin typeface="Times New Roman" panose="02020603050405020304" pitchFamily="18" charset="0"/>
                <a:cs typeface="Times New Roman" panose="02020603050405020304" pitchFamily="18" charset="0"/>
              </a:rPr>
              <a:t>Key Takeaways / Conclusion</a:t>
            </a:r>
          </a:p>
        </p:txBody>
      </p:sp>
      <p:sp>
        <p:nvSpPr>
          <p:cNvPr id="3" name="Slide Number Placeholder 2">
            <a:extLst>
              <a:ext uri="{FF2B5EF4-FFF2-40B4-BE49-F238E27FC236}">
                <a16:creationId xmlns:a16="http://schemas.microsoft.com/office/drawing/2014/main" id="{31B24751-01ED-CBD2-9202-CCB14C3681FA}"/>
              </a:ext>
            </a:extLst>
          </p:cNvPr>
          <p:cNvSpPr>
            <a:spLocks noGrp="1"/>
          </p:cNvSpPr>
          <p:nvPr>
            <p:ph type="sldNum" sz="quarter" idx="10"/>
          </p:nvPr>
        </p:nvSpPr>
        <p:spPr/>
        <p:txBody>
          <a:bodyPr/>
          <a:lstStyle/>
          <a:p>
            <a:fld id="{98045765-9D82-4A4A-9458-B21A2E924861}" type="slidenum">
              <a:rPr lang="en-US" smtClean="0"/>
              <a:t>17</a:t>
            </a:fld>
            <a:endParaRPr lang="en-US"/>
          </a:p>
        </p:txBody>
      </p:sp>
      <p:sp>
        <p:nvSpPr>
          <p:cNvPr id="5" name="Rectangle 1">
            <a:extLst>
              <a:ext uri="{FF2B5EF4-FFF2-40B4-BE49-F238E27FC236}">
                <a16:creationId xmlns:a16="http://schemas.microsoft.com/office/drawing/2014/main" id="{1161B7BE-3C53-CAFD-A382-4BC64B541E54}"/>
              </a:ext>
            </a:extLst>
          </p:cNvPr>
          <p:cNvSpPr>
            <a:spLocks noChangeArrowheads="1"/>
          </p:cNvSpPr>
          <p:nvPr/>
        </p:nvSpPr>
        <p:spPr bwMode="auto">
          <a:xfrm rot="10800000" flipV="1">
            <a:off x="1203649" y="1123476"/>
            <a:ext cx="10891706" cy="341632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Magnetic field (Ha) effectively controls flow around bluff bodies.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Lorentz force suppresses vortex shedding → smoother Cl profiles.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Drag coefficient (Cd) increases with Ha due to electromagnetic damping.</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dirty="0">
                <a:latin typeface="Arial" panose="020B0604020202020204" pitchFamily="34" charset="0"/>
              </a:rPr>
              <a:t>With increase in </a:t>
            </a:r>
            <a:r>
              <a:rPr kumimoji="0" lang="en-US" altLang="en-US" sz="1800" b="0" i="0" u="none" strike="noStrike" cap="none" normalizeH="0" baseline="0" dirty="0">
                <a:ln>
                  <a:noFill/>
                </a:ln>
                <a:solidFill>
                  <a:schemeClr val="tx1"/>
                </a:solidFill>
                <a:effectLst/>
                <a:latin typeface="Arial" panose="020B0604020202020204" pitchFamily="34" charset="0"/>
              </a:rPr>
              <a:t>Ha, Nu number increases.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kumimoji="0" lang="en-US" altLang="en-US" sz="1800" b="0" i="0" u="none" strike="noStrike" cap="none" normalizeH="0" baseline="0" dirty="0">
                <a:ln>
                  <a:noFill/>
                </a:ln>
                <a:solidFill>
                  <a:schemeClr val="tx1"/>
                </a:solidFill>
                <a:effectLst/>
                <a:latin typeface="Arial" panose="020B0604020202020204" pitchFamily="34" charset="0"/>
              </a:rPr>
              <a:t>At very high Re, stronger fields are required to stabilize flow.</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endParaRPr kumimoji="0" lang="en-US" altLang="en-US" sz="1800" b="0" i="0" u="none" strike="noStrike" cap="none" normalizeH="0" baseline="0" dirty="0">
              <a:ln>
                <a:noFill/>
              </a:ln>
              <a:solidFill>
                <a:schemeClr val="tx1"/>
              </a:solidFill>
              <a:effectLst/>
              <a:latin typeface="Arial" panose="020B0604020202020204" pitchFamily="34" charset="0"/>
            </a:endParaRP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v"/>
              <a:tabLst/>
            </a:pPr>
            <a:r>
              <a:rPr lang="en-US" altLang="en-US" dirty="0">
                <a:latin typeface="Arial" panose="020B0604020202020204" pitchFamily="34" charset="0"/>
              </a:rPr>
              <a:t>Transverse Magnetic field can control flow dynamics and heat transfer in electrically conducting fluid. The degree of control scales with both Reynolds and Hartmann Number.</a:t>
            </a:r>
            <a:endParaRPr kumimoji="0" lang="en-US" altLang="en-US" sz="1800" b="0" i="0" u="none" strike="noStrike" cap="none" normalizeH="0" baseline="0" dirty="0">
              <a:ln>
                <a:noFill/>
              </a:ln>
              <a:solidFill>
                <a:schemeClr val="tx1"/>
              </a:solidFill>
              <a:effectLst/>
              <a:latin typeface="Arial" panose="020B0604020202020204" pitchFamily="34" charset="0"/>
            </a:endParaRPr>
          </a:p>
        </p:txBody>
      </p:sp>
      <p:cxnSp>
        <p:nvCxnSpPr>
          <p:cNvPr id="6" name="Straight Connector 5"/>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53232650"/>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CCA3888-18F4-B0D0-2147-9B52630A467B}"/>
              </a:ext>
            </a:extLst>
          </p:cNvPr>
          <p:cNvSpPr>
            <a:spLocks noGrp="1"/>
          </p:cNvSpPr>
          <p:nvPr>
            <p:ph type="title"/>
          </p:nvPr>
        </p:nvSpPr>
        <p:spPr>
          <a:xfrm>
            <a:off x="838200" y="166102"/>
            <a:ext cx="10515600" cy="493291"/>
          </a:xfrm>
        </p:spPr>
        <p:txBody>
          <a:bodyPr>
            <a:noAutofit/>
          </a:bodyPr>
          <a:lstStyle/>
          <a:p>
            <a:pPr algn="ctr"/>
            <a:r>
              <a:rPr lang="en-IN" sz="3600" b="1" dirty="0">
                <a:latin typeface="Times New Roman" panose="02020603050405020304" pitchFamily="18" charset="0"/>
                <a:cs typeface="Times New Roman" panose="02020603050405020304" pitchFamily="18" charset="0"/>
              </a:rPr>
              <a:t>Future Scope</a:t>
            </a:r>
          </a:p>
        </p:txBody>
      </p:sp>
      <p:sp>
        <p:nvSpPr>
          <p:cNvPr id="3" name="Slide Number Placeholder 2">
            <a:extLst>
              <a:ext uri="{FF2B5EF4-FFF2-40B4-BE49-F238E27FC236}">
                <a16:creationId xmlns:a16="http://schemas.microsoft.com/office/drawing/2014/main" id="{18F77757-1B23-9FD8-6ADC-F8115317604F}"/>
              </a:ext>
            </a:extLst>
          </p:cNvPr>
          <p:cNvSpPr>
            <a:spLocks noGrp="1"/>
          </p:cNvSpPr>
          <p:nvPr>
            <p:ph type="sldNum" sz="quarter" idx="10"/>
          </p:nvPr>
        </p:nvSpPr>
        <p:spPr/>
        <p:txBody>
          <a:bodyPr/>
          <a:lstStyle/>
          <a:p>
            <a:fld id="{98045765-9D82-4A4A-9458-B21A2E924861}" type="slidenum">
              <a:rPr lang="en-US" smtClean="0"/>
              <a:t>18</a:t>
            </a:fld>
            <a:endParaRPr lang="en-US"/>
          </a:p>
        </p:txBody>
      </p:sp>
      <p:sp>
        <p:nvSpPr>
          <p:cNvPr id="7" name="Rectangle 1">
            <a:extLst>
              <a:ext uri="{FF2B5EF4-FFF2-40B4-BE49-F238E27FC236}">
                <a16:creationId xmlns:a16="http://schemas.microsoft.com/office/drawing/2014/main" id="{59F1E579-1DA2-7B7F-1329-BADE9DCEB5F0}"/>
              </a:ext>
            </a:extLst>
          </p:cNvPr>
          <p:cNvSpPr>
            <a:spLocks noChangeArrowheads="1"/>
          </p:cNvSpPr>
          <p:nvPr/>
        </p:nvSpPr>
        <p:spPr bwMode="auto">
          <a:xfrm rot="10800000" flipV="1">
            <a:off x="1203649" y="1393818"/>
            <a:ext cx="10768642" cy="175432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Extended Geometries:</a:t>
            </a:r>
            <a:r>
              <a:rPr kumimoji="0" lang="en-US" altLang="en-US" sz="1800" b="0" i="0" u="none" strike="noStrike" cap="none" normalizeH="0" baseline="0" dirty="0">
                <a:ln>
                  <a:noFill/>
                </a:ln>
                <a:solidFill>
                  <a:schemeClr val="tx1"/>
                </a:solidFill>
                <a:effectLst/>
                <a:latin typeface="Arial" panose="020B0604020202020204" pitchFamily="34" charset="0"/>
              </a:rPr>
              <a:t> Study of MHD flow over more complex bluff bodies (airfoils, arrays of cylinders).</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3D Simulations:</a:t>
            </a:r>
            <a:r>
              <a:rPr kumimoji="0" lang="en-US" altLang="en-US" sz="1800" b="0" i="0" u="none" strike="noStrike" cap="none" normalizeH="0" baseline="0" dirty="0">
                <a:ln>
                  <a:noFill/>
                </a:ln>
                <a:solidFill>
                  <a:schemeClr val="tx1"/>
                </a:solidFill>
                <a:effectLst/>
                <a:latin typeface="Arial" panose="020B0604020202020204" pitchFamily="34" charset="0"/>
              </a:rPr>
              <a:t> Extension to fully 3D turbulent wakes for better industrial applicability.</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Coupled Physics:</a:t>
            </a:r>
            <a:r>
              <a:rPr kumimoji="0" lang="en-US" altLang="en-US" sz="1800" b="0" i="0" u="none" strike="noStrike" cap="none" normalizeH="0" baseline="0" dirty="0">
                <a:ln>
                  <a:noFill/>
                </a:ln>
                <a:solidFill>
                  <a:schemeClr val="tx1"/>
                </a:solidFill>
                <a:effectLst/>
                <a:latin typeface="Arial" panose="020B0604020202020204" pitchFamily="34" charset="0"/>
              </a:rPr>
              <a:t> Integration with nanofluids or oscillating cylinders for enhanced control.</a:t>
            </a:r>
          </a:p>
          <a:p>
            <a:pPr marL="285750" marR="0" lvl="0" indent="-285750" algn="just" defTabSz="914400" rtl="0" eaLnBrk="0" fontAlgn="base" latinLnBrk="0" hangingPunct="0">
              <a:lnSpc>
                <a:spcPct val="100000"/>
              </a:lnSpc>
              <a:spcBef>
                <a:spcPct val="0"/>
              </a:spcBef>
              <a:spcAft>
                <a:spcPct val="0"/>
              </a:spcAft>
              <a:buClrTx/>
              <a:buSzTx/>
              <a:buFont typeface="Wingdings" panose="05000000000000000000" pitchFamily="2" charset="2"/>
              <a:buChar char="Ø"/>
              <a:tabLst/>
            </a:pPr>
            <a:r>
              <a:rPr kumimoji="0" lang="en-US" altLang="en-US" sz="1800" b="1" i="0" u="none" strike="noStrike" cap="none" normalizeH="0" baseline="0" dirty="0">
                <a:ln>
                  <a:noFill/>
                </a:ln>
                <a:solidFill>
                  <a:schemeClr val="tx1"/>
                </a:solidFill>
                <a:effectLst/>
                <a:latin typeface="Arial" panose="020B0604020202020204" pitchFamily="34" charset="0"/>
              </a:rPr>
              <a:t>Applications:</a:t>
            </a:r>
            <a:r>
              <a:rPr kumimoji="0" lang="en-US" altLang="en-US" sz="1800" b="0" i="0" u="none" strike="noStrike" cap="none" normalizeH="0" baseline="0" dirty="0">
                <a:ln>
                  <a:noFill/>
                </a:ln>
                <a:solidFill>
                  <a:schemeClr val="tx1"/>
                </a:solidFill>
                <a:effectLst/>
                <a:latin typeface="Arial" panose="020B0604020202020204" pitchFamily="34" charset="0"/>
              </a:rPr>
              <a:t> Insights can guide drag reduction and thermal management in aerospace, nuclear cooling, and metallurgical processes.</a:t>
            </a:r>
          </a:p>
        </p:txBody>
      </p:sp>
      <p:cxnSp>
        <p:nvCxnSpPr>
          <p:cNvPr id="5" name="Straight Connector 4"/>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76799354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A6E9C4-87B9-F36C-F548-757D9F99A881}"/>
              </a:ext>
            </a:extLst>
          </p:cNvPr>
          <p:cNvSpPr>
            <a:spLocks noGrp="1"/>
          </p:cNvSpPr>
          <p:nvPr>
            <p:ph type="title"/>
          </p:nvPr>
        </p:nvSpPr>
        <p:spPr>
          <a:xfrm>
            <a:off x="565815" y="1987025"/>
            <a:ext cx="10515600" cy="1325563"/>
          </a:xfrm>
        </p:spPr>
        <p:txBody>
          <a:bodyPr/>
          <a:lstStyle/>
          <a:p>
            <a:pPr algn="ctr"/>
            <a:r>
              <a:rPr lang="en-IN" i="1" u="sng" dirty="0">
                <a:solidFill>
                  <a:schemeClr val="accent2">
                    <a:lumMod val="75000"/>
                  </a:schemeClr>
                </a:solidFill>
                <a:effectLst>
                  <a:outerShdw blurRad="38100" dist="38100" dir="2700000" algn="tl">
                    <a:srgbClr val="000000">
                      <a:alpha val="43137"/>
                    </a:srgbClr>
                  </a:outerShdw>
                </a:effectLst>
                <a:latin typeface="Arial Black" panose="020B0A04020102020204" pitchFamily="34" charset="0"/>
              </a:rPr>
              <a:t>Thank-You</a:t>
            </a:r>
          </a:p>
        </p:txBody>
      </p:sp>
      <p:sp>
        <p:nvSpPr>
          <p:cNvPr id="3" name="Slide Number Placeholder 2">
            <a:extLst>
              <a:ext uri="{FF2B5EF4-FFF2-40B4-BE49-F238E27FC236}">
                <a16:creationId xmlns:a16="http://schemas.microsoft.com/office/drawing/2014/main" id="{DC2FAC4F-6497-B69F-3EDD-D83D1CCB1B77}"/>
              </a:ext>
            </a:extLst>
          </p:cNvPr>
          <p:cNvSpPr>
            <a:spLocks noGrp="1"/>
          </p:cNvSpPr>
          <p:nvPr>
            <p:ph type="sldNum" sz="quarter" idx="10"/>
          </p:nvPr>
        </p:nvSpPr>
        <p:spPr/>
        <p:txBody>
          <a:bodyPr/>
          <a:lstStyle/>
          <a:p>
            <a:fld id="{98045765-9D82-4A4A-9458-B21A2E924861}" type="slidenum">
              <a:rPr lang="en-US" smtClean="0"/>
              <a:t>19</a:t>
            </a:fld>
            <a:endParaRPr lang="en-US"/>
          </a:p>
        </p:txBody>
      </p:sp>
      <p:cxnSp>
        <p:nvCxnSpPr>
          <p:cNvPr id="4" name="Straight Connector 3"/>
          <p:cNvCxnSpPr/>
          <p:nvPr/>
        </p:nvCxnSpPr>
        <p:spPr>
          <a:xfrm>
            <a:off x="1203649" y="612740"/>
            <a:ext cx="10988351" cy="46653"/>
          </a:xfrm>
          <a:prstGeom prst="line">
            <a:avLst/>
          </a:prstGeom>
          <a:ln w="28575"/>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902361612"/>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pptA793.tmp</Template>
  <TotalTime>1543</TotalTime>
  <Words>1430</Words>
  <Application>Microsoft Office PowerPoint</Application>
  <PresentationFormat>Widescreen</PresentationFormat>
  <Paragraphs>191</Paragraphs>
  <Slides>19</Slides>
  <Notes>1</Notes>
  <HiddenSlides>0</HiddenSlides>
  <MMClips>0</MMClips>
  <ScaleCrop>false</ScaleCrop>
  <HeadingPairs>
    <vt:vector size="8" baseType="variant">
      <vt:variant>
        <vt:lpstr>Fonts Used</vt:lpstr>
      </vt:variant>
      <vt:variant>
        <vt:i4>8</vt:i4>
      </vt:variant>
      <vt:variant>
        <vt:lpstr>Theme</vt:lpstr>
      </vt:variant>
      <vt:variant>
        <vt:i4>1</vt:i4>
      </vt:variant>
      <vt:variant>
        <vt:lpstr>Slide Titles</vt:lpstr>
      </vt:variant>
      <vt:variant>
        <vt:i4>19</vt:i4>
      </vt:variant>
      <vt:variant>
        <vt:lpstr>Custom Shows</vt:lpstr>
      </vt:variant>
      <vt:variant>
        <vt:i4>1</vt:i4>
      </vt:variant>
    </vt:vector>
  </HeadingPairs>
  <TitlesOfParts>
    <vt:vector size="29" baseType="lpstr">
      <vt:lpstr>Arial</vt:lpstr>
      <vt:lpstr>Arial Black</vt:lpstr>
      <vt:lpstr>Calibri</vt:lpstr>
      <vt:lpstr>Calibri Light</vt:lpstr>
      <vt:lpstr>Cambria Math</vt:lpstr>
      <vt:lpstr>Constantia</vt:lpstr>
      <vt:lpstr>Times New Roman</vt:lpstr>
      <vt:lpstr>Wingdings</vt:lpstr>
      <vt:lpstr>Office Theme</vt:lpstr>
      <vt:lpstr>MHD Flow Around a Heated Stationary Cylinder at Moderate to High Reynolds Numbers   </vt:lpstr>
      <vt:lpstr>Motivation</vt:lpstr>
      <vt:lpstr>Background &amp; References</vt:lpstr>
      <vt:lpstr>Problem Statement &amp; Objective</vt:lpstr>
      <vt:lpstr>Physical Model &amp; Governing Equations</vt:lpstr>
      <vt:lpstr>Mesh &amp; Validation</vt:lpstr>
      <vt:lpstr>Setup</vt:lpstr>
      <vt:lpstr>Flow Dynamics- Streamlines, Re 1000</vt:lpstr>
      <vt:lpstr>Z- Vorticity : Re 1000</vt:lpstr>
      <vt:lpstr>PowerPoint Presentation</vt:lpstr>
      <vt:lpstr>PowerPoint Presentation</vt:lpstr>
      <vt:lpstr>PowerPoint Presentation</vt:lpstr>
      <vt:lpstr>PowerPoint Presentation</vt:lpstr>
      <vt:lpstr>Nusselt Number</vt:lpstr>
      <vt:lpstr> Pressure Coefficient</vt:lpstr>
      <vt:lpstr>Drag &amp; Lift Behaviour</vt:lpstr>
      <vt:lpstr>Key Takeaways / Conclusion</vt:lpstr>
      <vt:lpstr>Future Scope</vt:lpstr>
      <vt:lpstr>Thank-You</vt:lpstr>
      <vt:lpstr>Custom Show 1</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MHD Flow Around a Heated Stationary Cylinder at Moderate to High Reynolds Numbers</dc:title>
  <dc:creator>CHAVHAN .</dc:creator>
  <cp:lastModifiedBy>Pracheta Ganguly</cp:lastModifiedBy>
  <cp:revision>65</cp:revision>
  <dcterms:created xsi:type="dcterms:W3CDTF">2025-09-24T06:19:19Z</dcterms:created>
  <dcterms:modified xsi:type="dcterms:W3CDTF">2025-10-08T13:25:35Z</dcterms:modified>
</cp:coreProperties>
</file>